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8.xml" ContentType="application/vnd.openxmlformats-officedocument.theme+xml"/>
  <Override PartName="/ppt/slideLayouts/slideLayout2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  <p:sldMasterId id="2147483893" r:id="rId5"/>
    <p:sldMasterId id="2147483911" r:id="rId6"/>
    <p:sldMasterId id="2147483914" r:id="rId7"/>
    <p:sldMasterId id="2147483928" r:id="rId8"/>
    <p:sldMasterId id="2147483933" r:id="rId9"/>
  </p:sldMasterIdLst>
  <p:notesMasterIdLst>
    <p:notesMasterId r:id="rId14"/>
  </p:notesMasterIdLst>
  <p:handoutMasterIdLst>
    <p:handoutMasterId r:id="rId15"/>
  </p:handoutMasterIdLst>
  <p:sldIdLst>
    <p:sldId id="287" r:id="rId10"/>
    <p:sldId id="335" r:id="rId11"/>
    <p:sldId id="336" r:id="rId12"/>
    <p:sldId id="280" r:id="rId13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_Image version" id="{E8D0D622-F6C6-F44A-B365-B4A5FF6195C2}">
          <p14:sldIdLst>
            <p14:sldId id="287"/>
            <p14:sldId id="335"/>
            <p14:sldId id="336"/>
          </p14:sldIdLst>
        </p14:section>
        <p14:section name="无标题节" id="{78BFD3F4-F7B7-4A85-A04E-295E6D517277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mashita Keitaro" initials="YK" lastIdx="0" clrIdx="0">
    <p:extLst>
      <p:ext uri="{19B8F6BF-5375-455C-9EA6-DF929625EA0E}">
        <p15:presenceInfo xmlns:p15="http://schemas.microsoft.com/office/powerpoint/2012/main" userId="S-1-5-21-147214757-305610072-1517763936-916525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5BCD"/>
    <a:srgbClr val="C0C0C0"/>
    <a:srgbClr val="0066FF"/>
    <a:srgbClr val="0000C0"/>
    <a:srgbClr val="404040"/>
    <a:srgbClr val="000040"/>
    <a:srgbClr val="004000"/>
    <a:srgbClr val="00C000"/>
    <a:srgbClr val="400000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 autoAdjust="0"/>
    <p:restoredTop sz="55873" autoAdjust="0"/>
  </p:normalViewPr>
  <p:slideViewPr>
    <p:cSldViewPr snapToGrid="0" snapToObjects="1">
      <p:cViewPr>
        <p:scale>
          <a:sx n="66" d="100"/>
          <a:sy n="66" d="100"/>
        </p:scale>
        <p:origin x="253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296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51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補足説明</a:t>
            </a:r>
            <a:endParaRPr lang="en-US" altLang="ja-JP" dirty="0"/>
          </a:p>
          <a:p>
            <a:r>
              <a:rPr lang="en-US" altLang="ja-JP" dirty="0"/>
              <a:t>Input</a:t>
            </a:r>
            <a:r>
              <a:rPr lang="ja-JP" altLang="en-US" dirty="0"/>
              <a:t>：</a:t>
            </a:r>
            <a:r>
              <a:rPr lang="en-US" altLang="ja-JP" dirty="0"/>
              <a:t>5</a:t>
            </a:r>
            <a:r>
              <a:rPr lang="ja-JP" altLang="en-US" dirty="0"/>
              <a:t>種類の情報（</a:t>
            </a:r>
            <a:r>
              <a:rPr lang="en-US" altLang="ja-JP" dirty="0"/>
              <a:t>[1] Input Image, [2] Heat Map,  [3] BC setting, [4] Model parameter, [5] Sim condition)</a:t>
            </a:r>
          </a:p>
          <a:p>
            <a:r>
              <a:rPr lang="en-US" altLang="ja-JP" dirty="0"/>
              <a:t>[1] Input Image : </a:t>
            </a:r>
          </a:p>
          <a:p>
            <a:r>
              <a:rPr lang="ja-JP" altLang="en-US" dirty="0"/>
              <a:t>　・動画 </a:t>
            </a:r>
            <a:r>
              <a:rPr lang="en-US" altLang="ja-JP" dirty="0"/>
              <a:t>or </a:t>
            </a:r>
            <a:r>
              <a:rPr lang="ja-JP" altLang="en-US" dirty="0"/>
              <a:t>静止画 </a:t>
            </a:r>
            <a:r>
              <a:rPr lang="en-US" altLang="ja-JP" dirty="0"/>
              <a:t>(</a:t>
            </a:r>
            <a:r>
              <a:rPr lang="ja-JP" altLang="en-US" dirty="0"/>
              <a:t>表示時間を指定して，複数の静止画像を入力とする場合も想定</a:t>
            </a:r>
            <a:r>
              <a:rPr lang="en-US" altLang="ja-JP" dirty="0"/>
              <a:t>)</a:t>
            </a:r>
          </a:p>
          <a:p>
            <a:r>
              <a:rPr lang="ja-JP" altLang="en-US" dirty="0"/>
              <a:t>　・動画はパネルを劣化させるための</a:t>
            </a:r>
            <a:r>
              <a:rPr lang="en-US" altLang="ja-JP" dirty="0"/>
              <a:t>Aging</a:t>
            </a:r>
            <a:r>
              <a:rPr lang="ja-JP" altLang="en-US" dirty="0"/>
              <a:t>画像として活用。静止画は劣化後の焼き付き画像生成の為に活用（劣化後の焼き付き画像は静止画入力の場合に出力）</a:t>
            </a:r>
            <a:endParaRPr lang="en-US" altLang="ja-JP" dirty="0"/>
          </a:p>
          <a:p>
            <a:r>
              <a:rPr lang="ja-JP" altLang="en-US" dirty="0"/>
              <a:t>　・画面サイズは任意の想定，動画の時間も任意（動画の繰り返し再生回数は指定できるようにする）</a:t>
            </a:r>
            <a:endParaRPr lang="en-US" altLang="ja-JP" dirty="0"/>
          </a:p>
          <a:p>
            <a:r>
              <a:rPr lang="en-US" altLang="ja-JP" dirty="0"/>
              <a:t>[2] Heat Map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 </a:t>
            </a:r>
            <a:r>
              <a:rPr lang="en-US" altLang="ja-JP" dirty="0"/>
              <a:t>[1] </a:t>
            </a:r>
            <a:r>
              <a:rPr lang="ja-JP" altLang="en-US" dirty="0"/>
              <a:t>の</a:t>
            </a:r>
            <a:r>
              <a:rPr lang="en-US" altLang="ja-JP" dirty="0"/>
              <a:t>Input Image</a:t>
            </a:r>
            <a:r>
              <a:rPr lang="ja-JP" altLang="en-US" dirty="0"/>
              <a:t>に対応する</a:t>
            </a:r>
            <a:r>
              <a:rPr lang="en-US" altLang="ja-JP" dirty="0"/>
              <a:t>Heat Map</a:t>
            </a:r>
            <a:r>
              <a:rPr lang="ja-JP" altLang="en-US" dirty="0"/>
              <a:t>を入力</a:t>
            </a:r>
            <a:r>
              <a:rPr lang="en-US" altLang="ja-JP" dirty="0"/>
              <a:t>. Input</a:t>
            </a:r>
            <a:r>
              <a:rPr lang="ja-JP" altLang="en-US" dirty="0"/>
              <a:t>が動画なら</a:t>
            </a:r>
            <a:r>
              <a:rPr lang="en-US" altLang="ja-JP" dirty="0"/>
              <a:t>Heat Map</a:t>
            </a:r>
            <a:r>
              <a:rPr lang="ja-JP" altLang="en-US" dirty="0"/>
              <a:t>も動画．静止画の場合，定常状態になった後の温度分布を</a:t>
            </a:r>
            <a:r>
              <a:rPr lang="en-US" altLang="ja-JP" dirty="0"/>
              <a:t>Heat Map</a:t>
            </a:r>
            <a:r>
              <a:rPr lang="ja-JP" altLang="en-US" dirty="0"/>
              <a:t>とする</a:t>
            </a:r>
            <a:endParaRPr lang="en-US" altLang="ja-JP" dirty="0"/>
          </a:p>
          <a:p>
            <a:r>
              <a:rPr lang="en-US" altLang="ja-JP" dirty="0"/>
              <a:t>[3] BC setting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</a:t>
            </a:r>
            <a:r>
              <a:rPr lang="en-US" altLang="ja-JP" dirty="0"/>
              <a:t>DBV</a:t>
            </a:r>
            <a:r>
              <a:rPr lang="ja-JP" altLang="en-US" dirty="0"/>
              <a:t>設定（輝度に対してリニアになるよう変換した値を入力），</a:t>
            </a:r>
            <a:r>
              <a:rPr lang="en-US" altLang="ja-JP" dirty="0"/>
              <a:t>Duty</a:t>
            </a:r>
            <a:r>
              <a:rPr lang="ja-JP" altLang="en-US" dirty="0"/>
              <a:t>値使用 </a:t>
            </a:r>
            <a:r>
              <a:rPr lang="en-US" altLang="ja-JP" dirty="0"/>
              <a:t>(Peak target (</a:t>
            </a:r>
            <a:r>
              <a:rPr lang="ja-JP" altLang="en-US" dirty="0"/>
              <a:t>時間と共に輝度を減衰させる係数</a:t>
            </a:r>
            <a:r>
              <a:rPr lang="en-US" altLang="ja-JP" dirty="0"/>
              <a:t>)</a:t>
            </a:r>
            <a:r>
              <a:rPr lang="ja-JP" altLang="en-US" dirty="0"/>
              <a:t>も入力として扱う可能性あり</a:t>
            </a:r>
            <a:r>
              <a:rPr lang="en-US" altLang="ja-JP" dirty="0"/>
              <a:t>)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（ツール内部で</a:t>
            </a:r>
            <a:r>
              <a:rPr lang="en-US" altLang="ja-JP" dirty="0"/>
              <a:t>LUT</a:t>
            </a:r>
            <a:r>
              <a:rPr lang="ja-JP" altLang="en-US" dirty="0"/>
              <a:t>の線形補間等で活用するため）</a:t>
            </a:r>
            <a:r>
              <a:rPr lang="en-US" altLang="ja-JP" dirty="0"/>
              <a:t>BAND</a:t>
            </a:r>
            <a:r>
              <a:rPr lang="ja-JP" altLang="en-US" dirty="0"/>
              <a:t>設定情報</a:t>
            </a:r>
            <a:r>
              <a:rPr lang="en-US" altLang="ja-JP" dirty="0"/>
              <a:t>(BAND DBV, Duty)</a:t>
            </a:r>
            <a:r>
              <a:rPr lang="ja-JP" altLang="en-US" dirty="0"/>
              <a:t>も併せて入力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[4] Model parameter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・パネルの実測</a:t>
            </a:r>
            <a:r>
              <a:rPr lang="en-US" altLang="ja-JP" dirty="0"/>
              <a:t>Data</a:t>
            </a:r>
            <a:r>
              <a:rPr lang="ja-JP" altLang="en-US" dirty="0"/>
              <a:t>から抽出してこのツールに与える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[5] Sim condition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・ツールに劣化させたい目標</a:t>
            </a:r>
            <a:r>
              <a:rPr lang="en-US" altLang="ja-JP" dirty="0"/>
              <a:t>Aging</a:t>
            </a:r>
            <a:r>
              <a:rPr lang="ja-JP" altLang="en-US" dirty="0"/>
              <a:t>時間を設定，併せて現実的な</a:t>
            </a:r>
            <a:r>
              <a:rPr lang="en-US" altLang="ja-JP" dirty="0"/>
              <a:t>Sim</a:t>
            </a:r>
            <a:r>
              <a:rPr lang="ja-JP" altLang="en-US" dirty="0"/>
              <a:t>時間で終わらせるため，劣化を加速させる設定</a:t>
            </a:r>
            <a:r>
              <a:rPr lang="en-US" altLang="ja-JP" dirty="0"/>
              <a:t>(Accel. setting)</a:t>
            </a:r>
            <a:r>
              <a:rPr lang="ja-JP" altLang="en-US" dirty="0"/>
              <a:t>も行う．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（</a:t>
            </a:r>
            <a:r>
              <a:rPr lang="en-US" altLang="ja-JP" dirty="0"/>
              <a:t>Sim</a:t>
            </a:r>
            <a:r>
              <a:rPr lang="ja-JP" altLang="en-US" dirty="0"/>
              <a:t>時間短縮の為の加速は，ストレス時間の累積を加速させるか，劣化モデルの</a:t>
            </a:r>
            <a:r>
              <a:rPr lang="en-US" altLang="ja-JP" dirty="0"/>
              <a:t>τ (</a:t>
            </a:r>
            <a:r>
              <a:rPr lang="ja-JP" altLang="en-US" dirty="0"/>
              <a:t>半減寿命と相関</a:t>
            </a:r>
            <a:r>
              <a:rPr lang="en-US" altLang="ja-JP" dirty="0"/>
              <a:t>)</a:t>
            </a:r>
            <a:r>
              <a:rPr lang="ja-JP" altLang="en-US" dirty="0"/>
              <a:t>を短縮することで実施）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Output</a:t>
            </a:r>
            <a:r>
              <a:rPr lang="ja-JP" altLang="en-US" dirty="0"/>
              <a:t>：</a:t>
            </a:r>
            <a:r>
              <a:rPr lang="en-US" altLang="ja-JP" dirty="0"/>
              <a:t>3</a:t>
            </a:r>
            <a:r>
              <a:rPr lang="ja-JP" altLang="en-US" dirty="0"/>
              <a:t>種類の情報（</a:t>
            </a:r>
            <a:r>
              <a:rPr lang="en-US" altLang="ja-JP" dirty="0"/>
              <a:t>[1] Degradation Image, [2] Degradation Map,  [3] Total stress Map)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[1] Degradation Image (.</a:t>
            </a:r>
            <a:r>
              <a:rPr lang="en-US" altLang="ja-JP" dirty="0" err="1"/>
              <a:t>png</a:t>
            </a:r>
            <a:r>
              <a:rPr lang="en-US" altLang="ja-JP" dirty="0"/>
              <a:t> or bmp etc.)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 </a:t>
            </a:r>
            <a:r>
              <a:rPr lang="ja-JP" altLang="en-US" dirty="0"/>
              <a:t>　・累積された劣化情報に基づいて，静止画入力に対して出力される焼き付き画像．入力の静止画像等と比較することで</a:t>
            </a:r>
            <a:r>
              <a:rPr lang="en-US" altLang="ja-JP" dirty="0"/>
              <a:t>PQ</a:t>
            </a:r>
            <a:r>
              <a:rPr lang="ja-JP" altLang="en-US" dirty="0"/>
              <a:t>評価に活用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[2] Degradation Map (.csv)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</a:t>
            </a:r>
            <a:r>
              <a:rPr lang="en-US" altLang="ja-JP" dirty="0"/>
              <a:t> </a:t>
            </a:r>
            <a:r>
              <a:rPr lang="ja-JP" altLang="en-US" dirty="0"/>
              <a:t>・画面の劣化率</a:t>
            </a:r>
            <a:r>
              <a:rPr lang="en-US" altLang="ja-JP" dirty="0"/>
              <a:t>Map</a:t>
            </a:r>
            <a:r>
              <a:rPr lang="ja-JP" altLang="en-US" dirty="0"/>
              <a:t>（指定した</a:t>
            </a:r>
            <a:r>
              <a:rPr lang="en-US" altLang="ja-JP" dirty="0"/>
              <a:t>Aging</a:t>
            </a:r>
            <a:r>
              <a:rPr lang="ja-JP" altLang="en-US" dirty="0"/>
              <a:t>時間における</a:t>
            </a:r>
            <a:r>
              <a:rPr lang="en-US" altLang="ja-JP" dirty="0"/>
              <a:t>Map</a:t>
            </a:r>
            <a:r>
              <a:rPr lang="ja-JP" altLang="en-US" dirty="0"/>
              <a:t>を出力）．解析用　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[3] Total stress Map (.csv)</a:t>
            </a: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</a:t>
            </a:r>
            <a:r>
              <a:rPr lang="en-US" altLang="ja-JP" dirty="0"/>
              <a:t> </a:t>
            </a:r>
            <a:r>
              <a:rPr lang="ja-JP" altLang="en-US" dirty="0"/>
              <a:t>・画面の累積ストレス</a:t>
            </a:r>
            <a:r>
              <a:rPr lang="en-US" altLang="ja-JP" dirty="0"/>
              <a:t>Map</a:t>
            </a:r>
            <a:r>
              <a:rPr lang="ja-JP" altLang="en-US" dirty="0"/>
              <a:t>（指定した</a:t>
            </a:r>
            <a:r>
              <a:rPr lang="en-US" altLang="ja-JP" dirty="0"/>
              <a:t>Aging</a:t>
            </a:r>
            <a:r>
              <a:rPr lang="ja-JP" altLang="en-US" dirty="0"/>
              <a:t>時間における</a:t>
            </a:r>
            <a:r>
              <a:rPr lang="en-US" altLang="ja-JP" dirty="0"/>
              <a:t>Map</a:t>
            </a:r>
            <a:r>
              <a:rPr lang="ja-JP" altLang="en-US" dirty="0"/>
              <a:t>を出力）．ツールに入力することで</a:t>
            </a:r>
            <a:r>
              <a:rPr lang="en-US" altLang="ja-JP" dirty="0"/>
              <a:t>Aging</a:t>
            </a:r>
            <a:r>
              <a:rPr lang="ja-JP" altLang="en-US" dirty="0"/>
              <a:t>の途中から再開できるようにする．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46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補足説明：</a:t>
            </a:r>
            <a:r>
              <a:rPr lang="en-US" dirty="0"/>
              <a:t>DBI, BIP</a:t>
            </a:r>
            <a:r>
              <a:rPr lang="ja-JP" altLang="en-US" dirty="0"/>
              <a:t>開発への活用イメージ</a:t>
            </a:r>
            <a:endParaRPr lang="en-US" altLang="ja-JP" dirty="0"/>
          </a:p>
          <a:p>
            <a:r>
              <a:rPr lang="en-US" dirty="0"/>
              <a:t>[1] DBI</a:t>
            </a:r>
            <a:r>
              <a:rPr lang="ja-JP" altLang="en-US" dirty="0"/>
              <a:t>活用への活用 </a:t>
            </a:r>
            <a:r>
              <a:rPr lang="en-US" altLang="ja-JP" dirty="0"/>
              <a:t>(2</a:t>
            </a:r>
            <a:r>
              <a:rPr lang="ja-JP" altLang="en-US" dirty="0"/>
              <a:t>つの</a:t>
            </a:r>
            <a:r>
              <a:rPr lang="en-US" altLang="ja-JP" dirty="0"/>
              <a:t>Step (Aging Step, PQ eval. Step)</a:t>
            </a:r>
            <a:r>
              <a:rPr lang="ja-JP" altLang="en-US" dirty="0"/>
              <a:t>に分けて活用．</a:t>
            </a:r>
            <a:r>
              <a:rPr lang="en-US" altLang="ja-JP" dirty="0"/>
              <a:t>Aging</a:t>
            </a:r>
            <a:r>
              <a:rPr lang="ja-JP" altLang="en-US" dirty="0"/>
              <a:t>→</a:t>
            </a:r>
            <a:r>
              <a:rPr lang="en-US" altLang="ja-JP" dirty="0"/>
              <a:t>PQ Eval</a:t>
            </a:r>
            <a:r>
              <a:rPr lang="ja-JP" altLang="en-US" dirty="0"/>
              <a:t>の順に行う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Aging Step</a:t>
            </a:r>
          </a:p>
          <a:p>
            <a:r>
              <a:rPr lang="ja-JP" altLang="en-US" dirty="0"/>
              <a:t>　・</a:t>
            </a:r>
            <a:r>
              <a:rPr lang="en-US" altLang="ja-JP" dirty="0"/>
              <a:t>Input</a:t>
            </a:r>
            <a:r>
              <a:rPr lang="ja-JP" altLang="en-US" dirty="0"/>
              <a:t>動画と対応する</a:t>
            </a:r>
            <a:r>
              <a:rPr lang="en-US" altLang="ja-JP" dirty="0" err="1"/>
              <a:t>HeatMap</a:t>
            </a:r>
            <a:r>
              <a:rPr lang="ja-JP" altLang="en-US" dirty="0"/>
              <a:t>を</a:t>
            </a:r>
            <a:r>
              <a:rPr lang="en-US" altLang="ja-JP" dirty="0"/>
              <a:t>DBI</a:t>
            </a:r>
            <a:r>
              <a:rPr lang="ja-JP" altLang="en-US" dirty="0"/>
              <a:t>に入力し補正後動画を生成．</a:t>
            </a:r>
            <a:endParaRPr lang="en-US" altLang="ja-JP" dirty="0"/>
          </a:p>
          <a:p>
            <a:r>
              <a:rPr lang="ja-JP" altLang="en-US" dirty="0"/>
              <a:t>　</a:t>
            </a:r>
            <a:r>
              <a:rPr lang="en-US" altLang="ja-JP" dirty="0"/>
              <a:t>※DBI</a:t>
            </a:r>
            <a:r>
              <a:rPr lang="ja-JP" altLang="en-US" dirty="0"/>
              <a:t>内部でも劣化の累積計算は実施しているが，補正“後”動画から生成される</a:t>
            </a:r>
            <a:r>
              <a:rPr lang="en-US" altLang="ja-JP" dirty="0" err="1"/>
              <a:t>HeatMap</a:t>
            </a:r>
            <a:r>
              <a:rPr lang="ja-JP" altLang="en-US" dirty="0"/>
              <a:t>を用いて温度依存性を考慮する必要あり．</a:t>
            </a:r>
            <a:endParaRPr lang="en-US" altLang="ja-JP" dirty="0"/>
          </a:p>
          <a:p>
            <a:r>
              <a:rPr lang="ja-JP" altLang="en-US" dirty="0"/>
              <a:t>　　⇒　</a:t>
            </a:r>
            <a:r>
              <a:rPr lang="en-US" altLang="ja-JP" dirty="0"/>
              <a:t>Heat Map Gen</a:t>
            </a:r>
            <a:r>
              <a:rPr lang="ja-JP" altLang="en-US" dirty="0"/>
              <a:t>のブロックで補正後動画から</a:t>
            </a:r>
            <a:r>
              <a:rPr lang="en-US" altLang="ja-JP" dirty="0" err="1"/>
              <a:t>HeatMap</a:t>
            </a:r>
            <a:r>
              <a:rPr lang="ja-JP" altLang="en-US" dirty="0"/>
              <a:t>を予測し，補正後の</a:t>
            </a:r>
            <a:r>
              <a:rPr lang="en-US" altLang="ja-JP" dirty="0"/>
              <a:t>Heat Map</a:t>
            </a:r>
            <a:r>
              <a:rPr lang="ja-JP" altLang="en-US" dirty="0"/>
              <a:t>動画として出力する他，</a:t>
            </a:r>
            <a:r>
              <a:rPr lang="en-US" altLang="ja-JP" dirty="0"/>
              <a:t>DBI</a:t>
            </a:r>
            <a:r>
              <a:rPr lang="ja-JP" altLang="en-US" dirty="0"/>
              <a:t>に結果をフィードバック</a:t>
            </a:r>
            <a:endParaRPr lang="en-US" altLang="ja-JP" dirty="0"/>
          </a:p>
          <a:p>
            <a:r>
              <a:rPr lang="ja-JP" altLang="en-US" dirty="0"/>
              <a:t>　・補正後動画と対応する</a:t>
            </a:r>
            <a:r>
              <a:rPr lang="en-US" altLang="ja-JP" dirty="0" err="1"/>
              <a:t>HeatMap</a:t>
            </a:r>
            <a:r>
              <a:rPr lang="ja-JP" altLang="en-US" dirty="0"/>
              <a:t>を</a:t>
            </a:r>
            <a:r>
              <a:rPr lang="en-US" altLang="ja-JP" dirty="0"/>
              <a:t>Burn-in simulator</a:t>
            </a:r>
            <a:r>
              <a:rPr lang="ja-JP" altLang="en-US" dirty="0"/>
              <a:t>に入力．パネル劣化を計算する（劣化の累積計算を実施）→</a:t>
            </a:r>
            <a:r>
              <a:rPr lang="en-US" altLang="ja-JP" dirty="0"/>
              <a:t>Total Stress Map</a:t>
            </a:r>
            <a:r>
              <a:rPr lang="ja-JP" altLang="en-US" dirty="0"/>
              <a:t>を出力</a:t>
            </a:r>
            <a:endParaRPr lang="en-US" altLang="ja-JP" dirty="0"/>
          </a:p>
          <a:p>
            <a:r>
              <a:rPr lang="ja-JP" altLang="en-US" dirty="0"/>
              <a:t>　・比較の為，</a:t>
            </a:r>
            <a:r>
              <a:rPr lang="en-US" altLang="ja-JP" dirty="0"/>
              <a:t>DBI</a:t>
            </a:r>
            <a:r>
              <a:rPr lang="ja-JP" altLang="en-US" dirty="0"/>
              <a:t>補正をせずに</a:t>
            </a:r>
            <a:r>
              <a:rPr lang="en-US" altLang="ja-JP" dirty="0"/>
              <a:t>Input</a:t>
            </a:r>
            <a:r>
              <a:rPr lang="ja-JP" altLang="en-US" dirty="0"/>
              <a:t>動画と対応する</a:t>
            </a:r>
            <a:r>
              <a:rPr lang="en-US" altLang="ja-JP" dirty="0" err="1"/>
              <a:t>HeatMap</a:t>
            </a:r>
            <a:r>
              <a:rPr lang="ja-JP" altLang="en-US" dirty="0"/>
              <a:t>を</a:t>
            </a:r>
            <a:r>
              <a:rPr lang="en-US" altLang="ja-JP" dirty="0"/>
              <a:t>Burn-in simulator</a:t>
            </a:r>
            <a:r>
              <a:rPr lang="ja-JP" altLang="en-US" dirty="0"/>
              <a:t>に入力．パネル劣化を計算する→</a:t>
            </a:r>
            <a:r>
              <a:rPr lang="en-US" altLang="ja-JP" dirty="0"/>
              <a:t>Total Stress Map</a:t>
            </a:r>
            <a:r>
              <a:rPr lang="ja-JP" altLang="en-US" dirty="0"/>
              <a:t>を出力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・目標</a:t>
            </a:r>
            <a:r>
              <a:rPr lang="en-US" altLang="ja-JP" dirty="0"/>
              <a:t>Aging</a:t>
            </a:r>
            <a:r>
              <a:rPr lang="ja-JP" altLang="en-US" dirty="0"/>
              <a:t>時間（劣化させる時間</a:t>
            </a:r>
            <a:r>
              <a:rPr lang="en-US" altLang="ja-JP" dirty="0"/>
              <a:t>(~500h</a:t>
            </a:r>
            <a:r>
              <a:rPr lang="ja-JP" altLang="en-US" dirty="0"/>
              <a:t>や</a:t>
            </a:r>
            <a:r>
              <a:rPr lang="en-US" altLang="ja-JP" dirty="0"/>
              <a:t>1000h etc.)</a:t>
            </a:r>
            <a:r>
              <a:rPr lang="ja-JP" altLang="en-US" dirty="0"/>
              <a:t>）は予め設定し計算．例えば</a:t>
            </a:r>
            <a:r>
              <a:rPr lang="en-US" altLang="ja-JP" dirty="0"/>
              <a:t>1000h</a:t>
            </a:r>
            <a:r>
              <a:rPr lang="ja-JP" altLang="en-US" dirty="0"/>
              <a:t>と設定すれば，</a:t>
            </a:r>
            <a:r>
              <a:rPr lang="en-US" altLang="ja-JP" dirty="0"/>
              <a:t>1000h</a:t>
            </a:r>
            <a:r>
              <a:rPr lang="ja-JP" altLang="en-US" dirty="0"/>
              <a:t>後の劣化状態を調査する評価となる．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</a:t>
            </a:r>
            <a:r>
              <a:rPr lang="en-US" altLang="ja-JP" dirty="0"/>
              <a:t>Input</a:t>
            </a:r>
            <a:r>
              <a:rPr lang="ja-JP" altLang="en-US" dirty="0"/>
              <a:t>として動画ではなく，複数の静止画像と点灯時間を設定して</a:t>
            </a:r>
            <a:r>
              <a:rPr lang="en-US" altLang="ja-JP" dirty="0"/>
              <a:t>Aging</a:t>
            </a:r>
            <a:r>
              <a:rPr lang="ja-JP" altLang="en-US" dirty="0"/>
              <a:t>させる場合も想定．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</a:t>
            </a:r>
            <a:r>
              <a:rPr lang="en-US" altLang="ja-JP" dirty="0"/>
              <a:t>DBI</a:t>
            </a:r>
            <a:r>
              <a:rPr lang="ja-JP" altLang="en-US" dirty="0"/>
              <a:t>の処理として，逐次補正を実施せず</a:t>
            </a:r>
            <a:r>
              <a:rPr lang="en-US" altLang="ja-JP" dirty="0"/>
              <a:t>DBI</a:t>
            </a:r>
            <a:r>
              <a:rPr lang="ja-JP" altLang="en-US" dirty="0"/>
              <a:t>内部の劣化の累積計算のみ行う場合も想定。この場合，補正後動画や補正後の</a:t>
            </a:r>
            <a:r>
              <a:rPr lang="en-US" altLang="ja-JP" dirty="0"/>
              <a:t>Heat Map</a:t>
            </a:r>
            <a:r>
              <a:rPr lang="ja-JP" altLang="en-US" dirty="0"/>
              <a:t>を作る必要が無く，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　</a:t>
            </a:r>
            <a:r>
              <a:rPr lang="en-US" altLang="ja-JP" dirty="0"/>
              <a:t>DBI</a:t>
            </a:r>
            <a:r>
              <a:rPr lang="ja-JP" altLang="en-US" dirty="0"/>
              <a:t>評価の簡易化が出来る（最初はこの方法で</a:t>
            </a:r>
            <a:r>
              <a:rPr lang="en-US" altLang="ja-JP" dirty="0"/>
              <a:t>DBI</a:t>
            </a:r>
            <a:r>
              <a:rPr lang="ja-JP" altLang="en-US" dirty="0"/>
              <a:t>の最適化を進める）</a:t>
            </a:r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  <a:p>
            <a:r>
              <a:rPr lang="en-US" dirty="0"/>
              <a:t>PQ Evaluation Step</a:t>
            </a:r>
          </a:p>
          <a:p>
            <a:r>
              <a:rPr lang="ja-JP" altLang="en-US" dirty="0"/>
              <a:t>　・</a:t>
            </a:r>
            <a:r>
              <a:rPr lang="en-US" altLang="ja-JP" dirty="0"/>
              <a:t>Aging</a:t>
            </a:r>
            <a:r>
              <a:rPr lang="ja-JP" altLang="en-US" dirty="0"/>
              <a:t>処理後，</a:t>
            </a:r>
            <a:r>
              <a:rPr lang="en-US" altLang="ja-JP" dirty="0"/>
              <a:t>Burn-in simulator</a:t>
            </a:r>
            <a:r>
              <a:rPr lang="ja-JP" altLang="en-US" dirty="0"/>
              <a:t>に蓄積されたストレス情報に基づき（又は出力済みの</a:t>
            </a:r>
            <a:r>
              <a:rPr lang="en-US" altLang="ja-JP" dirty="0"/>
              <a:t>Total Stress Map</a:t>
            </a:r>
            <a:r>
              <a:rPr lang="ja-JP" altLang="en-US" dirty="0"/>
              <a:t>を読み込むことで）劣化後画像を生成．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DBI</a:t>
            </a:r>
            <a:r>
              <a:rPr lang="ja-JP" altLang="en-US" dirty="0"/>
              <a:t>処理あり・なしでの劣化後画像を比較することで，</a:t>
            </a:r>
            <a:r>
              <a:rPr lang="en-US" altLang="ja-JP" dirty="0"/>
              <a:t>DBI </a:t>
            </a:r>
            <a:r>
              <a:rPr lang="ja-JP" altLang="en-US" dirty="0"/>
              <a:t>の補正能力を検証する．</a:t>
            </a:r>
            <a:endParaRPr lang="en-US" altLang="ja-JP" dirty="0"/>
          </a:p>
          <a:p>
            <a:endParaRPr lang="en-US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[2] BIP</a:t>
            </a:r>
            <a:r>
              <a:rPr lang="ja-JP" altLang="en-US" dirty="0"/>
              <a:t>活用への活用 </a:t>
            </a:r>
            <a:r>
              <a:rPr lang="en-US" altLang="ja-JP" dirty="0"/>
              <a:t>(2</a:t>
            </a:r>
            <a:r>
              <a:rPr lang="ja-JP" altLang="en-US" dirty="0"/>
              <a:t>つの</a:t>
            </a:r>
            <a:r>
              <a:rPr lang="en-US" altLang="ja-JP" dirty="0"/>
              <a:t>Step (Aging Step, PQ eval. Step)</a:t>
            </a:r>
            <a:r>
              <a:rPr lang="ja-JP" altLang="en-US" dirty="0"/>
              <a:t>に分けて活用．</a:t>
            </a:r>
            <a:r>
              <a:rPr lang="en-US" altLang="ja-JP" dirty="0"/>
              <a:t>Aging</a:t>
            </a:r>
            <a:r>
              <a:rPr lang="ja-JP" altLang="en-US" dirty="0"/>
              <a:t>→</a:t>
            </a:r>
            <a:r>
              <a:rPr lang="en-US" altLang="ja-JP" dirty="0"/>
              <a:t>PQ Eval</a:t>
            </a:r>
            <a:r>
              <a:rPr lang="ja-JP" altLang="en-US" dirty="0"/>
              <a:t>の順に行う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Aging Step</a:t>
            </a:r>
          </a:p>
          <a:p>
            <a:r>
              <a:rPr lang="ja-JP" altLang="en-US" dirty="0"/>
              <a:t>　・</a:t>
            </a:r>
            <a:r>
              <a:rPr lang="en-US" altLang="ja-JP" dirty="0"/>
              <a:t>Input</a:t>
            </a:r>
            <a:r>
              <a:rPr lang="ja-JP" altLang="en-US" dirty="0"/>
              <a:t>動画と対応する</a:t>
            </a:r>
            <a:r>
              <a:rPr lang="en-US" altLang="ja-JP" dirty="0" err="1"/>
              <a:t>HeatMap</a:t>
            </a:r>
            <a:r>
              <a:rPr lang="ja-JP" altLang="en-US" dirty="0"/>
              <a:t>を</a:t>
            </a:r>
            <a:r>
              <a:rPr lang="en-US" altLang="ja-JP" dirty="0"/>
              <a:t>BIP</a:t>
            </a:r>
            <a:r>
              <a:rPr lang="ja-JP" altLang="en-US" dirty="0"/>
              <a:t>に入力し焼き付き予防動画を生成．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Heat Map Gen</a:t>
            </a:r>
            <a:r>
              <a:rPr lang="ja-JP" altLang="en-US" dirty="0"/>
              <a:t>のブロックで焼き付き予防動画から</a:t>
            </a:r>
            <a:r>
              <a:rPr lang="en-US" altLang="ja-JP" dirty="0" err="1"/>
              <a:t>HeatMap</a:t>
            </a:r>
            <a:r>
              <a:rPr lang="ja-JP" altLang="en-US" dirty="0"/>
              <a:t>を予測し，</a:t>
            </a:r>
            <a:r>
              <a:rPr lang="en-US" altLang="ja-JP" dirty="0"/>
              <a:t>Heat Map</a:t>
            </a:r>
            <a:r>
              <a:rPr lang="ja-JP" altLang="en-US" dirty="0"/>
              <a:t>動画として出力する</a:t>
            </a:r>
            <a:endParaRPr lang="en-US" altLang="ja-JP" dirty="0"/>
          </a:p>
          <a:p>
            <a:r>
              <a:rPr lang="ja-JP" altLang="en-US" dirty="0"/>
              <a:t>　・焼き付き予防動画と対応する</a:t>
            </a:r>
            <a:r>
              <a:rPr lang="en-US" altLang="ja-JP" dirty="0" err="1"/>
              <a:t>HeatMap</a:t>
            </a:r>
            <a:r>
              <a:rPr lang="ja-JP" altLang="en-US" dirty="0"/>
              <a:t>を</a:t>
            </a:r>
            <a:r>
              <a:rPr lang="en-US" altLang="ja-JP" dirty="0"/>
              <a:t>Burn-in simulator</a:t>
            </a:r>
            <a:r>
              <a:rPr lang="ja-JP" altLang="en-US" dirty="0"/>
              <a:t>に入力．パネル劣化を計算する（劣化の累積計算を実施）→</a:t>
            </a:r>
            <a:r>
              <a:rPr lang="en-US" altLang="ja-JP" dirty="0"/>
              <a:t>Total Stress Map</a:t>
            </a:r>
            <a:r>
              <a:rPr lang="ja-JP" altLang="en-US" dirty="0"/>
              <a:t>を出力</a:t>
            </a:r>
            <a:endParaRPr lang="en-US" altLang="ja-JP" dirty="0"/>
          </a:p>
          <a:p>
            <a:r>
              <a:rPr lang="ja-JP" altLang="en-US" dirty="0"/>
              <a:t>　・比較の為，</a:t>
            </a:r>
            <a:r>
              <a:rPr lang="en-US" altLang="ja-JP" dirty="0"/>
              <a:t>BIP</a:t>
            </a:r>
            <a:r>
              <a:rPr lang="ja-JP" altLang="en-US" dirty="0"/>
              <a:t>補正をせずに</a:t>
            </a:r>
            <a:r>
              <a:rPr lang="en-US" altLang="ja-JP" dirty="0"/>
              <a:t>Input</a:t>
            </a:r>
            <a:r>
              <a:rPr lang="ja-JP" altLang="en-US" dirty="0"/>
              <a:t>動画と対応する</a:t>
            </a:r>
            <a:r>
              <a:rPr lang="en-US" altLang="ja-JP" dirty="0" err="1"/>
              <a:t>HeatMap</a:t>
            </a:r>
            <a:r>
              <a:rPr lang="ja-JP" altLang="en-US" dirty="0"/>
              <a:t>を</a:t>
            </a:r>
            <a:r>
              <a:rPr lang="en-US" altLang="ja-JP" dirty="0"/>
              <a:t>Burn-in simulator</a:t>
            </a:r>
            <a:r>
              <a:rPr lang="ja-JP" altLang="en-US" dirty="0"/>
              <a:t>に入力．パネル劣化を計算する→</a:t>
            </a:r>
            <a:r>
              <a:rPr lang="en-US" altLang="ja-JP" dirty="0"/>
              <a:t>Total Stress Map</a:t>
            </a:r>
            <a:r>
              <a:rPr lang="ja-JP" altLang="en-US" dirty="0"/>
              <a:t>を出力</a:t>
            </a:r>
            <a:endParaRPr lang="en-US" altLang="ja-JP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　・目標</a:t>
            </a:r>
            <a:r>
              <a:rPr lang="en-US" altLang="ja-JP" dirty="0"/>
              <a:t>Aging</a:t>
            </a:r>
            <a:r>
              <a:rPr lang="ja-JP" altLang="en-US" dirty="0"/>
              <a:t>時間（劣化させる時間</a:t>
            </a:r>
            <a:r>
              <a:rPr lang="en-US" altLang="ja-JP" dirty="0"/>
              <a:t>(~500h</a:t>
            </a:r>
            <a:r>
              <a:rPr lang="ja-JP" altLang="en-US" dirty="0"/>
              <a:t>や</a:t>
            </a:r>
            <a:r>
              <a:rPr lang="en-US" altLang="ja-JP" dirty="0"/>
              <a:t>1000h etc.)</a:t>
            </a:r>
            <a:r>
              <a:rPr lang="ja-JP" altLang="en-US" dirty="0"/>
              <a:t>）は予め設定し計算．例えば</a:t>
            </a:r>
            <a:r>
              <a:rPr lang="en-US" altLang="ja-JP" dirty="0"/>
              <a:t>1000h</a:t>
            </a:r>
            <a:r>
              <a:rPr lang="ja-JP" altLang="en-US" dirty="0"/>
              <a:t>と設定すれば，</a:t>
            </a:r>
            <a:r>
              <a:rPr lang="en-US" altLang="ja-JP" dirty="0"/>
              <a:t>1000h</a:t>
            </a:r>
            <a:r>
              <a:rPr lang="ja-JP" altLang="en-US" dirty="0"/>
              <a:t>後の劣化状態を調査する評価となる．</a:t>
            </a:r>
            <a:endParaRPr lang="en-US" altLang="ja-JP" dirty="0"/>
          </a:p>
          <a:p>
            <a:r>
              <a:rPr lang="ja-JP" altLang="en-US" dirty="0"/>
              <a:t>　</a:t>
            </a:r>
            <a:endParaRPr lang="en-US" altLang="ja-JP" dirty="0"/>
          </a:p>
          <a:p>
            <a:r>
              <a:rPr lang="en-US" dirty="0"/>
              <a:t>PQ Evaluation Step</a:t>
            </a:r>
          </a:p>
          <a:p>
            <a:r>
              <a:rPr lang="ja-JP" altLang="en-US" dirty="0"/>
              <a:t>　・</a:t>
            </a:r>
            <a:r>
              <a:rPr lang="en-US" altLang="ja-JP" dirty="0"/>
              <a:t>Aging</a:t>
            </a:r>
            <a:r>
              <a:rPr lang="ja-JP" altLang="en-US" dirty="0"/>
              <a:t>処理後，</a:t>
            </a:r>
            <a:r>
              <a:rPr lang="en-US" altLang="ja-JP" dirty="0"/>
              <a:t>Burn-in simulator</a:t>
            </a:r>
            <a:r>
              <a:rPr lang="ja-JP" altLang="en-US" dirty="0"/>
              <a:t>に蓄積されたストレス情報に基づき（又は出力済みの</a:t>
            </a:r>
            <a:r>
              <a:rPr lang="en-US" altLang="ja-JP" dirty="0"/>
              <a:t>Total Stress Map</a:t>
            </a:r>
            <a:r>
              <a:rPr lang="ja-JP" altLang="en-US" dirty="0"/>
              <a:t>を読み込むことで）劣化後画像を生成．</a:t>
            </a:r>
            <a:endParaRPr lang="en-US" altLang="ja-JP" dirty="0"/>
          </a:p>
          <a:p>
            <a:r>
              <a:rPr lang="ja-JP" altLang="en-US" dirty="0"/>
              <a:t>　・</a:t>
            </a:r>
            <a:r>
              <a:rPr lang="en-US" altLang="ja-JP" dirty="0"/>
              <a:t>BIP</a:t>
            </a:r>
            <a:r>
              <a:rPr lang="ja-JP" altLang="en-US" dirty="0"/>
              <a:t>処理あり・なしでの劣化後画像を比較することで，</a:t>
            </a:r>
            <a:r>
              <a:rPr lang="en-US" altLang="ja-JP" dirty="0"/>
              <a:t>BIP</a:t>
            </a:r>
            <a:r>
              <a:rPr lang="ja-JP" altLang="en-US" dirty="0"/>
              <a:t>の補正能力を検証する．</a:t>
            </a:r>
            <a:endParaRPr lang="en-US" altLang="ja-JP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718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2597" y="2376386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181685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9139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9409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Logo"/>
          <p:cNvPicPr preferRelativeResize="0"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15745" y="5589589"/>
            <a:ext cx="1018515" cy="76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82639"/>
            <a:ext cx="12196763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0"/>
          <p:cNvSpPr txBox="1">
            <a:spLocks noChangeArrowheads="1"/>
          </p:cNvSpPr>
          <p:nvPr/>
        </p:nvSpPr>
        <p:spPr bwMode="auto">
          <a:xfrm>
            <a:off x="870291" y="6207271"/>
            <a:ext cx="2281279" cy="26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9921" tIns="39969" rIns="79921" bIns="39969">
            <a:spAutoFit/>
          </a:bodyPr>
          <a:lstStyle/>
          <a:p>
            <a:pPr defTabSz="799637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charset="0"/>
                <a:ea typeface="MS PGothic" pitchFamily="34" charset="-128"/>
              </a:rPr>
              <a:t>HUAWEI TECHNOLOGIES CO., LTD.</a:t>
            </a:r>
            <a:endParaRPr lang="en-US" altLang="zh-CN" sz="2200" dirty="0">
              <a:solidFill>
                <a:srgbClr val="000000"/>
              </a:solidFill>
              <a:latin typeface="Arial" charset="0"/>
              <a:ea typeface="MS PGothic" pitchFamily="34" charset="-128"/>
            </a:endParaRPr>
          </a:p>
        </p:txBody>
      </p:sp>
      <p:sp>
        <p:nvSpPr>
          <p:cNvPr id="7" name="Text Box 22"/>
          <p:cNvSpPr txBox="1">
            <a:spLocks noChangeArrowheads="1"/>
          </p:cNvSpPr>
          <p:nvPr/>
        </p:nvSpPr>
        <p:spPr bwMode="auto">
          <a:xfrm>
            <a:off x="9636714" y="4094295"/>
            <a:ext cx="1285557" cy="26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9921" tIns="39969" rIns="79921" bIns="39969">
            <a:spAutoFit/>
          </a:bodyPr>
          <a:lstStyle/>
          <a:p>
            <a:pPr defTabSz="799637" eaLnBrk="0" hangingPunct="0">
              <a:defRPr/>
            </a:pPr>
            <a:r>
              <a:rPr lang="en-US" altLang="zh-CN" sz="1200" dirty="0">
                <a:solidFill>
                  <a:srgbClr val="FFFFFF"/>
                </a:solidFill>
                <a:latin typeface="FrutigerNext LT Regular" pitchFamily="34" charset="0"/>
                <a:ea typeface="ＭＳ Ｐゴシック" pitchFamily="34" charset="-128"/>
              </a:rPr>
              <a:t>www.huawei.com</a:t>
            </a:r>
          </a:p>
        </p:txBody>
      </p:sp>
      <p:sp>
        <p:nvSpPr>
          <p:cNvPr id="8" name="Rectangle 23"/>
          <p:cNvSpPr>
            <a:spLocks noChangeArrowheads="1"/>
          </p:cNvSpPr>
          <p:nvPr/>
        </p:nvSpPr>
        <p:spPr bwMode="auto">
          <a:xfrm>
            <a:off x="5314909" y="6207227"/>
            <a:ext cx="1458296" cy="2653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79889" tIns="39951" rIns="79889" bIns="39951">
            <a:spAutoFit/>
          </a:bodyPr>
          <a:lstStyle/>
          <a:p>
            <a:pPr defTabSz="799637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auto">
          <a:xfrm>
            <a:off x="9060764" y="247659"/>
            <a:ext cx="1276067" cy="2961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79889" tIns="39951" rIns="79889" bIns="39951">
            <a:spAutoFit/>
          </a:bodyPr>
          <a:lstStyle/>
          <a:p>
            <a:pPr defTabSz="799637" eaLnBrk="0" hangingPunct="0">
              <a:defRPr/>
            </a:pPr>
            <a:r>
              <a:rPr lang="en-US" altLang="zh-CN" sz="1400" b="1" dirty="0">
                <a:solidFill>
                  <a:srgbClr val="666666"/>
                </a:solidFill>
                <a:latin typeface="FrutigerNext LT Regular" pitchFamily="34" charset="0"/>
                <a:ea typeface="ＭＳ Ｐゴシック" pitchFamily="34" charset="-128"/>
              </a:rPr>
              <a:t>Security Level:</a:t>
            </a:r>
            <a:r>
              <a:rPr lang="zh-CN" altLang="en-US" sz="1400" b="1" dirty="0">
                <a:solidFill>
                  <a:srgbClr val="666666"/>
                </a:solidFill>
                <a:latin typeface="FrutigerNext LT Regular" pitchFamily="34" charset="0"/>
                <a:ea typeface="ＭＳ Ｐゴシック" pitchFamily="34" charset="-128"/>
              </a:rPr>
              <a:t> </a:t>
            </a:r>
          </a:p>
        </p:txBody>
      </p:sp>
      <p:sp>
        <p:nvSpPr>
          <p:cNvPr id="10" name="Text Box 66"/>
          <p:cNvSpPr txBox="1">
            <a:spLocks noChangeArrowheads="1"/>
          </p:cNvSpPr>
          <p:nvPr/>
        </p:nvSpPr>
        <p:spPr bwMode="auto">
          <a:xfrm>
            <a:off x="-2625692" y="1322408"/>
            <a:ext cx="2625692" cy="3741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79937" tIns="39976" rIns="79937" bIns="39976">
            <a:spAutoFit/>
          </a:bodyPr>
          <a:lstStyle/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:40-47pt  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副标题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:26-30pt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LT Medium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Arial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:35-47pt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  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副标题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:24-28pt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反白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</a:t>
            </a:r>
          </a:p>
          <a:p>
            <a:pPr algn="r" defTabSz="799637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 eaLnBrk="0" hangingPunct="0">
              <a:lnSpc>
                <a:spcPct val="125000"/>
              </a:lnSpc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 eaLnBrk="0" hangingPunct="0">
              <a:lnSpc>
                <a:spcPct val="125000"/>
              </a:lnSpc>
              <a:spcBef>
                <a:spcPct val="50000"/>
              </a:spcBef>
              <a:defRPr/>
            </a:pPr>
            <a:endParaRPr lang="zh-CN" altLang="en-US" sz="1100" dirty="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44047" name="Rectangle 15"/>
          <p:cNvSpPr>
            <a:spLocks noGrp="1" noChangeArrowheads="1"/>
          </p:cNvSpPr>
          <p:nvPr>
            <p:ph type="ctrTitle" sz="quarter"/>
          </p:nvPr>
        </p:nvSpPr>
        <p:spPr>
          <a:xfrm>
            <a:off x="849146" y="1392241"/>
            <a:ext cx="7074545" cy="1666875"/>
          </a:xfrm>
        </p:spPr>
        <p:txBody>
          <a:bodyPr/>
          <a:lstStyle>
            <a:lvl1pPr>
              <a:defRPr sz="43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4048" name="Rectangle 1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12676" y="3182953"/>
            <a:ext cx="7076664" cy="865187"/>
          </a:xfrm>
        </p:spPr>
        <p:txBody>
          <a:bodyPr lIns="79937" tIns="39976" rIns="79937" bIns="39976"/>
          <a:lstStyle>
            <a:lvl1pPr marL="0" indent="0">
              <a:buFont typeface="Wingdings" pitchFamily="2" charset="2"/>
              <a:buNone/>
              <a:defRPr sz="2800">
                <a:solidFill>
                  <a:schemeClr val="bg1"/>
                </a:solidFill>
                <a:latin typeface="华文细黑" pitchFamily="2" charset="-122"/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1" name="Rectangle 26"/>
          <p:cNvSpPr>
            <a:spLocks noGrp="1" noChangeArrowheads="1"/>
          </p:cNvSpPr>
          <p:nvPr>
            <p:ph type="dt" sz="quarter" idx="10"/>
          </p:nvPr>
        </p:nvSpPr>
        <p:spPr>
          <a:xfrm>
            <a:off x="912641" y="282580"/>
            <a:ext cx="2845911" cy="474663"/>
          </a:xfrm>
        </p:spPr>
        <p:txBody>
          <a:bodyPr lIns="79937" tIns="39976" rIns="79937" bIns="39976"/>
          <a:lstStyle>
            <a:lvl1pPr>
              <a:lnSpc>
                <a:spcPct val="100000"/>
              </a:lnSpc>
              <a:defRPr>
                <a:latin typeface="FrutigerNext LT Regular" pitchFamily="34" charset="0"/>
              </a:defRPr>
            </a:lvl1pPr>
          </a:lstStyle>
          <a:p>
            <a:pPr>
              <a:defRPr/>
            </a:pPr>
            <a:fld id="{530ADD10-7124-43A9-BFD3-16949115FA29}" type="datetime1">
              <a:rPr lang="zh-CN" altLang="en-US">
                <a:solidFill>
                  <a:srgbClr val="000000"/>
                </a:solidFill>
              </a:rPr>
              <a:pPr>
                <a:defRPr/>
              </a:pPr>
              <a:t>2026/7/19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302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D7019EF4-C66C-44A4-9365-F494ABD64C08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2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460" y="4406905"/>
            <a:ext cx="1036724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460" y="2906717"/>
            <a:ext cx="10367249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027" indent="0">
              <a:buNone/>
              <a:defRPr sz="1800"/>
            </a:lvl2pPr>
            <a:lvl3pPr marL="912060" indent="0">
              <a:buNone/>
              <a:defRPr sz="1600"/>
            </a:lvl3pPr>
            <a:lvl4pPr marL="1368091" indent="0">
              <a:buNone/>
              <a:defRPr sz="1400"/>
            </a:lvl4pPr>
            <a:lvl5pPr marL="1824124" indent="0">
              <a:buNone/>
              <a:defRPr sz="1400"/>
            </a:lvl5pPr>
            <a:lvl6pPr marL="2280151" indent="0">
              <a:buNone/>
              <a:defRPr sz="1400"/>
            </a:lvl6pPr>
            <a:lvl7pPr marL="2736182" indent="0">
              <a:buNone/>
              <a:defRPr sz="1400"/>
            </a:lvl7pPr>
            <a:lvl8pPr marL="3192215" indent="0">
              <a:buNone/>
              <a:defRPr sz="1400"/>
            </a:lvl8pPr>
            <a:lvl9pPr marL="3648245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39AECF7E-4BBB-4A50-A0A8-4F32327B903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44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0319" y="1641484"/>
            <a:ext cx="5185741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9333" y="1641484"/>
            <a:ext cx="5187859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529E8DDB-C634-4B48-945E-5021CAB78CB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563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8" y="274639"/>
            <a:ext cx="1097708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38" y="1535113"/>
            <a:ext cx="5389022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027" indent="0">
              <a:buNone/>
              <a:defRPr sz="2000" b="1"/>
            </a:lvl2pPr>
            <a:lvl3pPr marL="912060" indent="0">
              <a:buNone/>
              <a:defRPr sz="1800" b="1"/>
            </a:lvl3pPr>
            <a:lvl4pPr marL="1368091" indent="0">
              <a:buNone/>
              <a:defRPr sz="1600" b="1"/>
            </a:lvl4pPr>
            <a:lvl5pPr marL="1824124" indent="0">
              <a:buNone/>
              <a:defRPr sz="1600" b="1"/>
            </a:lvl5pPr>
            <a:lvl6pPr marL="2280151" indent="0">
              <a:buNone/>
              <a:defRPr sz="1600" b="1"/>
            </a:lvl6pPr>
            <a:lvl7pPr marL="2736182" indent="0">
              <a:buNone/>
              <a:defRPr sz="1600" b="1"/>
            </a:lvl7pPr>
            <a:lvl8pPr marL="3192215" indent="0">
              <a:buNone/>
              <a:defRPr sz="1600" b="1"/>
            </a:lvl8pPr>
            <a:lvl9pPr marL="364824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838" y="2174875"/>
            <a:ext cx="53890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5797" y="1535113"/>
            <a:ext cx="5391139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027" indent="0">
              <a:buNone/>
              <a:defRPr sz="2000" b="1"/>
            </a:lvl2pPr>
            <a:lvl3pPr marL="912060" indent="0">
              <a:buNone/>
              <a:defRPr sz="1800" b="1"/>
            </a:lvl3pPr>
            <a:lvl4pPr marL="1368091" indent="0">
              <a:buNone/>
              <a:defRPr sz="1600" b="1"/>
            </a:lvl4pPr>
            <a:lvl5pPr marL="1824124" indent="0">
              <a:buNone/>
              <a:defRPr sz="1600" b="1"/>
            </a:lvl5pPr>
            <a:lvl6pPr marL="2280151" indent="0">
              <a:buNone/>
              <a:defRPr sz="1600" b="1"/>
            </a:lvl6pPr>
            <a:lvl7pPr marL="2736182" indent="0">
              <a:buNone/>
              <a:defRPr sz="1600" b="1"/>
            </a:lvl7pPr>
            <a:lvl8pPr marL="3192215" indent="0">
              <a:buNone/>
              <a:defRPr sz="1600" b="1"/>
            </a:lvl8pPr>
            <a:lvl9pPr marL="3648245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5797" y="2174875"/>
            <a:ext cx="539113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55B29275-EFD2-4E0D-8BF4-E0D6DCFC3A95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302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45B1A435-519F-4436-83ED-BAFFC426A867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758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BDC8F7D1-E08C-4518-B3B4-EB103629B3B1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671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64" y="273049"/>
            <a:ext cx="401265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596" y="273084"/>
            <a:ext cx="68183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864" y="1435124"/>
            <a:ext cx="401265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027" indent="0">
              <a:buNone/>
              <a:defRPr sz="1200"/>
            </a:lvl2pPr>
            <a:lvl3pPr marL="912060" indent="0">
              <a:buNone/>
              <a:defRPr sz="1000"/>
            </a:lvl3pPr>
            <a:lvl4pPr marL="1368091" indent="0">
              <a:buNone/>
              <a:defRPr sz="900"/>
            </a:lvl4pPr>
            <a:lvl5pPr marL="1824124" indent="0">
              <a:buNone/>
              <a:defRPr sz="900"/>
            </a:lvl5pPr>
            <a:lvl6pPr marL="2280151" indent="0">
              <a:buNone/>
              <a:defRPr sz="900"/>
            </a:lvl6pPr>
            <a:lvl7pPr marL="2736182" indent="0">
              <a:buNone/>
              <a:defRPr sz="900"/>
            </a:lvl7pPr>
            <a:lvl8pPr marL="3192215" indent="0">
              <a:buNone/>
              <a:defRPr sz="900"/>
            </a:lvl8pPr>
            <a:lvl9pPr marL="364824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48377F2E-A3FE-4763-A680-FE494E418024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765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651" y="4800601"/>
            <a:ext cx="7318058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651" y="612775"/>
            <a:ext cx="731805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027" indent="0">
              <a:buNone/>
              <a:defRPr sz="2800"/>
            </a:lvl2pPr>
            <a:lvl3pPr marL="912060" indent="0">
              <a:buNone/>
              <a:defRPr sz="2400"/>
            </a:lvl3pPr>
            <a:lvl4pPr marL="1368091" indent="0">
              <a:buNone/>
              <a:defRPr sz="2000"/>
            </a:lvl4pPr>
            <a:lvl5pPr marL="1824124" indent="0">
              <a:buNone/>
              <a:defRPr sz="2000"/>
            </a:lvl5pPr>
            <a:lvl6pPr marL="2280151" indent="0">
              <a:buNone/>
              <a:defRPr sz="2000"/>
            </a:lvl6pPr>
            <a:lvl7pPr marL="2736182" indent="0">
              <a:buNone/>
              <a:defRPr sz="2000"/>
            </a:lvl7pPr>
            <a:lvl8pPr marL="3192215" indent="0">
              <a:buNone/>
              <a:defRPr sz="2000"/>
            </a:lvl8pPr>
            <a:lvl9pPr marL="3648245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651" y="5367426"/>
            <a:ext cx="7318058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6027" indent="0">
              <a:buNone/>
              <a:defRPr sz="1200"/>
            </a:lvl2pPr>
            <a:lvl3pPr marL="912060" indent="0">
              <a:buNone/>
              <a:defRPr sz="1000"/>
            </a:lvl3pPr>
            <a:lvl4pPr marL="1368091" indent="0">
              <a:buNone/>
              <a:defRPr sz="900"/>
            </a:lvl4pPr>
            <a:lvl5pPr marL="1824124" indent="0">
              <a:buNone/>
              <a:defRPr sz="900"/>
            </a:lvl5pPr>
            <a:lvl6pPr marL="2280151" indent="0">
              <a:buNone/>
              <a:defRPr sz="900"/>
            </a:lvl6pPr>
            <a:lvl7pPr marL="2736182" indent="0">
              <a:buNone/>
              <a:defRPr sz="900"/>
            </a:lvl7pPr>
            <a:lvl8pPr marL="3192215" indent="0">
              <a:buNone/>
              <a:defRPr sz="900"/>
            </a:lvl8pPr>
            <a:lvl9pPr marL="3648245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4CB1DCA5-CE08-4ECA-982C-F9F6BA412350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793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5C0EF93B-1BCA-4B2D-827D-7BBF3B5336CB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844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17774" y="44451"/>
            <a:ext cx="2729449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27256" y="44451"/>
            <a:ext cx="7987186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E9518727-F448-438A-AC33-6A2F86F4848D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938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258" y="44449"/>
            <a:ext cx="10331250" cy="87153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70290" y="1641484"/>
            <a:ext cx="10576880" cy="41941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47437B1C-A0CB-41B2-992B-A54CE6149F65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3154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45F3152A-FF34-4515-81EB-74470FADDC01}" type="slidenum">
              <a:rPr lang="de-DE" altLang="zh-C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0064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258" y="44449"/>
            <a:ext cx="10331250" cy="8715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70319" y="1641484"/>
            <a:ext cx="5185741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59333" y="1641484"/>
            <a:ext cx="5187859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7CB4A426-E446-4611-A870-AC70CCDFA987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282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27290" y="44451"/>
            <a:ext cx="10919914" cy="579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5C6E3A64-BA6C-4E77-A500-456A7431248D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0616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258" y="44449"/>
            <a:ext cx="10331250" cy="8715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70319" y="1641484"/>
            <a:ext cx="5185741" cy="4194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259333" y="1641475"/>
            <a:ext cx="5187859" cy="20208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259333" y="3814805"/>
            <a:ext cx="5187859" cy="20208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BAD60513-190D-4480-9F95-7BB9329F3A73}" type="slidenum">
              <a:rPr lang="de-DE" altLang="zh-CN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GB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8654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60245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CF9CF-A781-42C7-A302-964BDE9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DE923-C540-4DFC-9224-9A72B04AE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CDFEA-BC18-4E2A-B7A3-67A1E87C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E397-553C-49D1-A220-3D74264FC59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BDB7A-E08C-4B12-A991-6CF6782A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AE162-7BD1-4BAB-BD6A-3288FAD6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47D8-76EE-4BA2-803F-BF8BBA671D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536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844649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436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54A56-FDAB-451C-98FA-5C11BA45F34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501" marR="0" indent="-28575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+mn-lt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+mn-lt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D5E1886-2053-4458-A57B-D09A0D5459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89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19" Type="http://schemas.openxmlformats.org/officeDocument/2006/relationships/image" Target="../media/image9.png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3.png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948CB-D146-5247-A1C4-675148CE07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076" y="5972665"/>
            <a:ext cx="2260800" cy="4892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75B843E-83DC-429A-9462-4F6F9819612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624946" y="257884"/>
            <a:ext cx="1333691" cy="24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4946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CD1975-F435-0C43-9931-DC58CEAFFC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350" y="5239240"/>
            <a:ext cx="1875600" cy="40591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44" y="1474840"/>
            <a:ext cx="3984232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24FF637-3127-064E-84EE-A0C7EB5BEE96}"/>
              </a:ext>
            </a:extLst>
          </p:cNvPr>
          <p:cNvSpPr txBox="1">
            <a:spLocks/>
          </p:cNvSpPr>
          <p:nvPr userDrawn="1"/>
        </p:nvSpPr>
        <p:spPr>
          <a:xfrm>
            <a:off x="7979357" y="2343267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id="{FBF16AD5-9EBA-8547-984B-E4E106BBD6C0}"/>
              </a:ext>
            </a:extLst>
          </p:cNvPr>
          <p:cNvSpPr txBox="1">
            <a:spLocks/>
          </p:cNvSpPr>
          <p:nvPr userDrawn="1"/>
        </p:nvSpPr>
        <p:spPr>
          <a:xfrm>
            <a:off x="7977672" y="1654431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79" descr="dd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0" y="6224605"/>
            <a:ext cx="12205233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870291" y="6439046"/>
            <a:ext cx="2281279" cy="2653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9921" tIns="39969" rIns="79921" bIns="39969">
            <a:spAutoFit/>
          </a:bodyPr>
          <a:lstStyle/>
          <a:p>
            <a:pPr defTabSz="799637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charset="0"/>
                <a:ea typeface="MS PGothic" pitchFamily="34" charset="-128"/>
              </a:rPr>
              <a:t>HUAWEI TECHNOLOGIES CO., LTD.</a:t>
            </a:r>
            <a:endParaRPr lang="en-US" altLang="zh-CN" sz="2200" dirty="0">
              <a:solidFill>
                <a:srgbClr val="000000"/>
              </a:solidFill>
              <a:latin typeface="Arial" charset="0"/>
              <a:ea typeface="MS PGothic" pitchFamily="34" charset="-128"/>
            </a:endParaRPr>
          </a:p>
        </p:txBody>
      </p:sp>
      <p:pic>
        <p:nvPicPr>
          <p:cNvPr id="2052" name="Picture 9" descr="8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10015769" y="6399304"/>
            <a:ext cx="17490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82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484816" y="6489716"/>
            <a:ext cx="2797208" cy="45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0" hangingPunct="0">
              <a:lnSpc>
                <a:spcPct val="85000"/>
              </a:lnSpc>
              <a:defRPr>
                <a:solidFill>
                  <a:schemeClr val="tx1"/>
                </a:solidFill>
                <a:latin typeface="FrutigerNext LT Bold" charset="0"/>
              </a:defRPr>
            </a:lvl1pPr>
          </a:lstStyle>
          <a:p>
            <a:pPr>
              <a:defRPr/>
            </a:pPr>
            <a:r>
              <a:rPr lang="de-DE" altLang="zh-CN" sz="1200">
                <a:solidFill>
                  <a:srgbClr val="000000"/>
                </a:solidFill>
                <a:ea typeface="MS PGothic" pitchFamily="34" charset="-128"/>
              </a:rPr>
              <a:t>Page </a:t>
            </a:r>
            <a:fld id="{45F3152A-FF34-4515-81EB-74470FADDC01}" type="slidenum">
              <a:rPr lang="de-DE" altLang="zh-CN" sz="1200">
                <a:solidFill>
                  <a:srgbClr val="000000"/>
                </a:solidFill>
                <a:ea typeface="MS PGothic" pitchFamily="34" charset="-128"/>
              </a:rPr>
              <a:pPr>
                <a:defRPr/>
              </a:pPr>
              <a:t>‹#›</a:t>
            </a:fld>
            <a:endParaRPr lang="en-GB" altLang="zh-CN" sz="1200">
              <a:solidFill>
                <a:srgbClr val="000000"/>
              </a:solidFill>
              <a:ea typeface="MS PGothic" pitchFamily="34" charset="-128"/>
            </a:endParaRPr>
          </a:p>
        </p:txBody>
      </p:sp>
      <p:sp>
        <p:nvSpPr>
          <p:cNvPr id="205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527258" y="44449"/>
            <a:ext cx="10331250" cy="871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9937" tIns="39976" rIns="79937" bIns="3997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8693" name="Rectangle 21"/>
          <p:cNvSpPr>
            <a:spLocks noChangeArrowheads="1"/>
          </p:cNvSpPr>
          <p:nvPr/>
        </p:nvSpPr>
        <p:spPr bwMode="auto">
          <a:xfrm>
            <a:off x="5192094" y="6439003"/>
            <a:ext cx="1458296" cy="2653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79889" tIns="39951" rIns="79889" bIns="39951">
            <a:spAutoFit/>
          </a:bodyPr>
          <a:lstStyle/>
          <a:p>
            <a:pPr defTabSz="799637" eaLnBrk="0" hangingPunct="0">
              <a:defRPr/>
            </a:pPr>
            <a:r>
              <a:rPr lang="en-US" altLang="zh-CN" sz="1200" dirty="0">
                <a:solidFill>
                  <a:srgbClr val="000000"/>
                </a:solidFill>
                <a:latin typeface="FrutigerNext LT Bold" pitchFamily="1" charset="0"/>
                <a:ea typeface="ＭＳ Ｐゴシック" pitchFamily="34" charset="-128"/>
              </a:rPr>
              <a:t>Huawei Confidential </a:t>
            </a:r>
          </a:p>
        </p:txBody>
      </p:sp>
      <p:sp>
        <p:nvSpPr>
          <p:cNvPr id="28694" name="Rectangle 22"/>
          <p:cNvSpPr>
            <a:spLocks noChangeArrowheads="1"/>
          </p:cNvSpPr>
          <p:nvPr/>
        </p:nvSpPr>
        <p:spPr bwMode="auto">
          <a:xfrm>
            <a:off x="-2545207" y="528639"/>
            <a:ext cx="2460528" cy="5307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921" tIns="39969" rIns="79921" bIns="39969"/>
          <a:lstStyle/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:32-35pt 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 LT Medium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799637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中文标题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:30-32pt 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 R153 G0 B0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黑体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英文正文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:20-22pt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 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 :18pt  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内部使用字体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en-US" altLang="zh-CN" sz="1100" dirty="0" err="1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FrutigerNext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 LT Regular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外部使用字体 </a:t>
            </a:r>
            <a:r>
              <a:rPr lang="en-US" altLang="zh-CN" sz="1100" dirty="0">
                <a:solidFill>
                  <a:srgbClr val="FFFFFF"/>
                </a:solidFill>
                <a:latin typeface="FrutigerNext LT Regular" pitchFamily="34" charset="0"/>
                <a:ea typeface="华文细黑" pitchFamily="2" charset="-122"/>
              </a:rPr>
              <a:t>: Arial</a:t>
            </a:r>
          </a:p>
          <a:p>
            <a:pPr algn="r" defTabSz="799637">
              <a:lnSpc>
                <a:spcPct val="7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中文正文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:18-20pt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子目录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(2-5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级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):18pt </a:t>
            </a: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颜色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黑色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字体</a:t>
            </a:r>
            <a:r>
              <a:rPr lang="en-US" altLang="zh-CN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:</a:t>
            </a:r>
            <a:r>
              <a:rPr lang="zh-CN" altLang="en-US" sz="1100" dirty="0">
                <a:solidFill>
                  <a:srgbClr val="FFFFFF"/>
                </a:solidFill>
                <a:latin typeface="Arial" charset="0"/>
                <a:ea typeface="华文细黑" pitchFamily="2" charset="-122"/>
              </a:rPr>
              <a:t>细黑体 </a:t>
            </a: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Arial" charset="0"/>
              <a:ea typeface="华文细黑" pitchFamily="2" charset="-122"/>
            </a:endParaRPr>
          </a:p>
          <a:p>
            <a:pPr algn="r"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zh-CN" altLang="en-US" sz="1100" dirty="0">
              <a:solidFill>
                <a:srgbClr val="000000"/>
              </a:solidFill>
              <a:latin typeface="Arial" charset="0"/>
              <a:ea typeface="华文细黑" pitchFamily="2" charset="-122"/>
            </a:endParaRPr>
          </a:p>
        </p:txBody>
      </p:sp>
      <p:sp>
        <p:nvSpPr>
          <p:cNvPr id="28734" name="Rectangle 62"/>
          <p:cNvSpPr>
            <a:spLocks noChangeArrowheads="1"/>
          </p:cNvSpPr>
          <p:nvPr/>
        </p:nvSpPr>
        <p:spPr bwMode="auto">
          <a:xfrm>
            <a:off x="12270935" y="1423991"/>
            <a:ext cx="1399663" cy="2005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921" tIns="39969" rIns="79921" bIns="39969"/>
          <a:lstStyle/>
          <a:p>
            <a:pPr defTabSz="799637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配色参考方案：</a:t>
            </a:r>
          </a:p>
          <a:p>
            <a:pPr defTabSz="799637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建议同一页面内不超过四种颜色，以下是</a:t>
            </a:r>
            <a:r>
              <a:rPr lang="en-US" altLang="zh-CN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13</a:t>
            </a: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组配色方案，同一页面内只选择一组使用。（仅供参考）</a:t>
            </a:r>
          </a:p>
          <a:p>
            <a:pPr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8737" name="Rectangle 65"/>
          <p:cNvSpPr>
            <a:spLocks noChangeArrowheads="1"/>
          </p:cNvSpPr>
          <p:nvPr/>
        </p:nvSpPr>
        <p:spPr bwMode="auto">
          <a:xfrm>
            <a:off x="12270935" y="-61909"/>
            <a:ext cx="1399663" cy="838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921" tIns="39969" rIns="79921" bIns="39969"/>
          <a:lstStyle/>
          <a:p>
            <a:pPr defTabSz="799637">
              <a:lnSpc>
                <a:spcPct val="120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r>
              <a:rPr lang="zh-CN" altLang="en-US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客户或者合作伙伴的标志放在右上角</a:t>
            </a:r>
            <a:r>
              <a:rPr lang="en-US" altLang="zh-CN" sz="1100" dirty="0">
                <a:solidFill>
                  <a:srgbClr val="FFFFFF"/>
                </a:solidFill>
                <a:latin typeface="华文细黑" pitchFamily="2" charset="-122"/>
                <a:ea typeface="华文细黑" pitchFamily="2" charset="-122"/>
              </a:rPr>
              <a:t>.</a:t>
            </a:r>
          </a:p>
          <a:p>
            <a:pPr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None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en-US" altLang="zh-CN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  <a:p>
            <a:pPr defTabSz="799637">
              <a:lnSpc>
                <a:spcPct val="125000"/>
              </a:lnSpc>
              <a:buClr>
                <a:srgbClr val="777777"/>
              </a:buClr>
              <a:buSzPct val="60000"/>
              <a:buFont typeface="Wingdings" pitchFamily="2" charset="2"/>
              <a:buChar char="l"/>
              <a:defRPr/>
            </a:pPr>
            <a:endParaRPr lang="zh-CN" altLang="en-US" sz="1100" dirty="0">
              <a:solidFill>
                <a:srgbClr val="FFFFFF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59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0290" y="1641484"/>
            <a:ext cx="10576880" cy="419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9949" tIns="39986" rIns="79949" bIns="399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752" name="Rectangle 80"/>
          <p:cNvSpPr>
            <a:spLocks noChangeArrowheads="1"/>
          </p:cNvSpPr>
          <p:nvPr/>
        </p:nvSpPr>
        <p:spPr bwMode="auto">
          <a:xfrm>
            <a:off x="12364048" y="5036187"/>
            <a:ext cx="1226028" cy="276746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91197" tIns="45595" rIns="91197" bIns="45595" anchor="ctr">
            <a:spAutoFit/>
          </a:bodyPr>
          <a:lstStyle/>
          <a:p>
            <a:pPr>
              <a:defRPr/>
            </a:pPr>
            <a:endParaRPr lang="zh-CN" altLang="en-US" sz="1200">
              <a:solidFill>
                <a:srgbClr val="FFFFFF"/>
              </a:solidFill>
              <a:latin typeface="FrutigerNext LT Regular" pitchFamily="34" charset="0"/>
              <a:ea typeface="MS PGothic" pitchFamily="34" charset="-128"/>
            </a:endParaRPr>
          </a:p>
        </p:txBody>
      </p:sp>
      <p:grpSp>
        <p:nvGrpSpPr>
          <p:cNvPr id="2061" name="Group 81"/>
          <p:cNvGrpSpPr>
            <a:grpSpLocks/>
          </p:cNvGrpSpPr>
          <p:nvPr/>
        </p:nvGrpSpPr>
        <p:grpSpPr bwMode="auto">
          <a:xfrm>
            <a:off x="12478423" y="3789365"/>
            <a:ext cx="986752" cy="182563"/>
            <a:chOff x="5893" y="2387"/>
            <a:chExt cx="466" cy="115"/>
          </a:xfrm>
        </p:grpSpPr>
        <p:sp>
          <p:nvSpPr>
            <p:cNvPr id="28754" name="Rectangle 82"/>
            <p:cNvSpPr>
              <a:spLocks noChangeArrowheads="1"/>
            </p:cNvSpPr>
            <p:nvPr userDrawn="1"/>
          </p:nvSpPr>
          <p:spPr bwMode="auto">
            <a:xfrm flipV="1">
              <a:off x="6010" y="2387"/>
              <a:ext cx="116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55" name="Rectangle 83"/>
            <p:cNvSpPr>
              <a:spLocks noChangeArrowheads="1"/>
            </p:cNvSpPr>
            <p:nvPr userDrawn="1"/>
          </p:nvSpPr>
          <p:spPr bwMode="auto">
            <a:xfrm flipV="1">
              <a:off x="6126" y="2387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56" name="Rectangle 84"/>
            <p:cNvSpPr>
              <a:spLocks noChangeArrowheads="1"/>
            </p:cNvSpPr>
            <p:nvPr userDrawn="1"/>
          </p:nvSpPr>
          <p:spPr bwMode="auto">
            <a:xfrm flipV="1">
              <a:off x="6242" y="2387"/>
              <a:ext cx="117" cy="115"/>
            </a:xfrm>
            <a:prstGeom prst="rect">
              <a:avLst/>
            </a:prstGeom>
            <a:solidFill>
              <a:srgbClr val="99660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57" name="Rectangle 85"/>
            <p:cNvSpPr>
              <a:spLocks noChangeArrowheads="1"/>
            </p:cNvSpPr>
            <p:nvPr userDrawn="1"/>
          </p:nvSpPr>
          <p:spPr bwMode="auto">
            <a:xfrm flipV="1">
              <a:off x="5893" y="2387"/>
              <a:ext cx="117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2" name="Group 86"/>
          <p:cNvGrpSpPr>
            <a:grpSpLocks/>
          </p:cNvGrpSpPr>
          <p:nvPr/>
        </p:nvGrpSpPr>
        <p:grpSpPr bwMode="auto">
          <a:xfrm>
            <a:off x="12478423" y="4005265"/>
            <a:ext cx="986752" cy="182563"/>
            <a:chOff x="5893" y="2523"/>
            <a:chExt cx="466" cy="115"/>
          </a:xfrm>
        </p:grpSpPr>
        <p:sp>
          <p:nvSpPr>
            <p:cNvPr id="28759" name="Rectangle 87"/>
            <p:cNvSpPr>
              <a:spLocks noChangeArrowheads="1"/>
            </p:cNvSpPr>
            <p:nvPr userDrawn="1"/>
          </p:nvSpPr>
          <p:spPr bwMode="auto">
            <a:xfrm flipV="1">
              <a:off x="6010" y="2523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60" name="Rectangle 88"/>
            <p:cNvSpPr>
              <a:spLocks noChangeArrowheads="1"/>
            </p:cNvSpPr>
            <p:nvPr userDrawn="1"/>
          </p:nvSpPr>
          <p:spPr bwMode="auto">
            <a:xfrm flipV="1">
              <a:off x="6126" y="2523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61" name="Rectangle 89"/>
            <p:cNvSpPr>
              <a:spLocks noChangeArrowheads="1"/>
            </p:cNvSpPr>
            <p:nvPr userDrawn="1"/>
          </p:nvSpPr>
          <p:spPr bwMode="auto">
            <a:xfrm flipV="1">
              <a:off x="6242" y="2523"/>
              <a:ext cx="117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62" name="Rectangle 90"/>
            <p:cNvSpPr>
              <a:spLocks noChangeArrowheads="1"/>
            </p:cNvSpPr>
            <p:nvPr userDrawn="1"/>
          </p:nvSpPr>
          <p:spPr bwMode="auto">
            <a:xfrm flipV="1">
              <a:off x="5893" y="2523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3" name="Group 91"/>
          <p:cNvGrpSpPr>
            <a:grpSpLocks/>
          </p:cNvGrpSpPr>
          <p:nvPr/>
        </p:nvGrpSpPr>
        <p:grpSpPr bwMode="auto">
          <a:xfrm>
            <a:off x="12478423" y="4221165"/>
            <a:ext cx="986752" cy="182563"/>
            <a:chOff x="5893" y="2659"/>
            <a:chExt cx="466" cy="115"/>
          </a:xfrm>
        </p:grpSpPr>
        <p:sp>
          <p:nvSpPr>
            <p:cNvPr id="28764" name="Rectangle 92"/>
            <p:cNvSpPr>
              <a:spLocks noChangeArrowheads="1"/>
            </p:cNvSpPr>
            <p:nvPr userDrawn="1"/>
          </p:nvSpPr>
          <p:spPr bwMode="auto">
            <a:xfrm flipV="1">
              <a:off x="6010" y="2659"/>
              <a:ext cx="116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65" name="Rectangle 93"/>
            <p:cNvSpPr>
              <a:spLocks noChangeArrowheads="1"/>
            </p:cNvSpPr>
            <p:nvPr userDrawn="1"/>
          </p:nvSpPr>
          <p:spPr bwMode="auto">
            <a:xfrm flipV="1">
              <a:off x="6126" y="2659"/>
              <a:ext cx="116" cy="115"/>
            </a:xfrm>
            <a:prstGeom prst="rect">
              <a:avLst/>
            </a:prstGeom>
            <a:solidFill>
              <a:srgbClr val="0099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66" name="Rectangle 94"/>
            <p:cNvSpPr>
              <a:spLocks noChangeArrowheads="1"/>
            </p:cNvSpPr>
            <p:nvPr userDrawn="1"/>
          </p:nvSpPr>
          <p:spPr bwMode="auto">
            <a:xfrm flipV="1">
              <a:off x="6242" y="2659"/>
              <a:ext cx="117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67" name="Rectangle 95"/>
            <p:cNvSpPr>
              <a:spLocks noChangeArrowheads="1"/>
            </p:cNvSpPr>
            <p:nvPr userDrawn="1"/>
          </p:nvSpPr>
          <p:spPr bwMode="auto">
            <a:xfrm flipV="1">
              <a:off x="5893" y="2659"/>
              <a:ext cx="117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4" name="Group 96"/>
          <p:cNvGrpSpPr>
            <a:grpSpLocks/>
          </p:cNvGrpSpPr>
          <p:nvPr/>
        </p:nvGrpSpPr>
        <p:grpSpPr bwMode="auto">
          <a:xfrm>
            <a:off x="12478423" y="3573463"/>
            <a:ext cx="986752" cy="188912"/>
            <a:chOff x="5893" y="2251"/>
            <a:chExt cx="466" cy="119"/>
          </a:xfrm>
        </p:grpSpPr>
        <p:sp>
          <p:nvSpPr>
            <p:cNvPr id="28769" name="Rectangle 97"/>
            <p:cNvSpPr>
              <a:spLocks noChangeArrowheads="1"/>
            </p:cNvSpPr>
            <p:nvPr userDrawn="1"/>
          </p:nvSpPr>
          <p:spPr bwMode="auto">
            <a:xfrm flipV="1">
              <a:off x="6126" y="2251"/>
              <a:ext cx="116" cy="119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70" name="Rectangle 98"/>
            <p:cNvSpPr>
              <a:spLocks noChangeArrowheads="1"/>
            </p:cNvSpPr>
            <p:nvPr userDrawn="1"/>
          </p:nvSpPr>
          <p:spPr bwMode="auto">
            <a:xfrm flipV="1">
              <a:off x="6242" y="2251"/>
              <a:ext cx="117" cy="119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71" name="Rectangle 99"/>
            <p:cNvSpPr>
              <a:spLocks noChangeArrowheads="1"/>
            </p:cNvSpPr>
            <p:nvPr userDrawn="1"/>
          </p:nvSpPr>
          <p:spPr bwMode="auto">
            <a:xfrm flipV="1">
              <a:off x="5893" y="2251"/>
              <a:ext cx="117" cy="119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72" name="Rectangle 100"/>
            <p:cNvSpPr>
              <a:spLocks noChangeArrowheads="1"/>
            </p:cNvSpPr>
            <p:nvPr userDrawn="1"/>
          </p:nvSpPr>
          <p:spPr bwMode="auto">
            <a:xfrm flipV="1">
              <a:off x="6010" y="2251"/>
              <a:ext cx="116" cy="119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5" name="Group 101"/>
          <p:cNvGrpSpPr>
            <a:grpSpLocks/>
          </p:cNvGrpSpPr>
          <p:nvPr/>
        </p:nvGrpSpPr>
        <p:grpSpPr bwMode="auto">
          <a:xfrm>
            <a:off x="12478423" y="4581525"/>
            <a:ext cx="986752" cy="182563"/>
            <a:chOff x="5893" y="2886"/>
            <a:chExt cx="466" cy="115"/>
          </a:xfrm>
        </p:grpSpPr>
        <p:sp>
          <p:nvSpPr>
            <p:cNvPr id="28774" name="Rectangle 102"/>
            <p:cNvSpPr>
              <a:spLocks noChangeArrowheads="1"/>
            </p:cNvSpPr>
            <p:nvPr userDrawn="1"/>
          </p:nvSpPr>
          <p:spPr bwMode="auto">
            <a:xfrm flipV="1">
              <a:off x="6010" y="2886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75" name="Rectangle 103"/>
            <p:cNvSpPr>
              <a:spLocks noChangeArrowheads="1"/>
            </p:cNvSpPr>
            <p:nvPr userDrawn="1"/>
          </p:nvSpPr>
          <p:spPr bwMode="auto">
            <a:xfrm flipV="1">
              <a:off x="6126" y="2886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76" name="Rectangle 104"/>
            <p:cNvSpPr>
              <a:spLocks noChangeArrowheads="1"/>
            </p:cNvSpPr>
            <p:nvPr userDrawn="1"/>
          </p:nvSpPr>
          <p:spPr bwMode="auto">
            <a:xfrm flipV="1">
              <a:off x="6242" y="2886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77" name="Rectangle 105"/>
            <p:cNvSpPr>
              <a:spLocks noChangeArrowheads="1"/>
            </p:cNvSpPr>
            <p:nvPr userDrawn="1"/>
          </p:nvSpPr>
          <p:spPr bwMode="auto">
            <a:xfrm flipV="1">
              <a:off x="5893" y="2886"/>
              <a:ext cx="117" cy="115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6" name="Group 106"/>
          <p:cNvGrpSpPr>
            <a:grpSpLocks/>
          </p:cNvGrpSpPr>
          <p:nvPr/>
        </p:nvGrpSpPr>
        <p:grpSpPr bwMode="auto">
          <a:xfrm>
            <a:off x="12478423" y="4797429"/>
            <a:ext cx="986752" cy="182563"/>
            <a:chOff x="5893" y="3022"/>
            <a:chExt cx="466" cy="115"/>
          </a:xfrm>
        </p:grpSpPr>
        <p:sp>
          <p:nvSpPr>
            <p:cNvPr id="28779" name="Rectangle 107"/>
            <p:cNvSpPr>
              <a:spLocks noChangeArrowheads="1"/>
            </p:cNvSpPr>
            <p:nvPr userDrawn="1"/>
          </p:nvSpPr>
          <p:spPr bwMode="auto">
            <a:xfrm flipV="1">
              <a:off x="6010" y="3022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80" name="Rectangle 108"/>
            <p:cNvSpPr>
              <a:spLocks noChangeArrowheads="1"/>
            </p:cNvSpPr>
            <p:nvPr userDrawn="1"/>
          </p:nvSpPr>
          <p:spPr bwMode="auto">
            <a:xfrm flipV="1">
              <a:off x="6126" y="3022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81" name="Rectangle 109"/>
            <p:cNvSpPr>
              <a:spLocks noChangeArrowheads="1"/>
            </p:cNvSpPr>
            <p:nvPr userDrawn="1"/>
          </p:nvSpPr>
          <p:spPr bwMode="auto">
            <a:xfrm flipV="1">
              <a:off x="6242" y="3022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82" name="Rectangle 110"/>
            <p:cNvSpPr>
              <a:spLocks noChangeArrowheads="1"/>
            </p:cNvSpPr>
            <p:nvPr userDrawn="1"/>
          </p:nvSpPr>
          <p:spPr bwMode="auto">
            <a:xfrm flipV="1">
              <a:off x="5893" y="3022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7" name="Group 111"/>
          <p:cNvGrpSpPr>
            <a:grpSpLocks/>
          </p:cNvGrpSpPr>
          <p:nvPr/>
        </p:nvGrpSpPr>
        <p:grpSpPr bwMode="auto">
          <a:xfrm>
            <a:off x="12478423" y="5013329"/>
            <a:ext cx="986752" cy="182563"/>
            <a:chOff x="5893" y="3158"/>
            <a:chExt cx="466" cy="115"/>
          </a:xfrm>
        </p:grpSpPr>
        <p:sp>
          <p:nvSpPr>
            <p:cNvPr id="28784" name="Rectangle 112"/>
            <p:cNvSpPr>
              <a:spLocks noChangeArrowheads="1"/>
            </p:cNvSpPr>
            <p:nvPr userDrawn="1"/>
          </p:nvSpPr>
          <p:spPr bwMode="auto">
            <a:xfrm flipV="1">
              <a:off x="6010" y="3158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85" name="Rectangle 113"/>
            <p:cNvSpPr>
              <a:spLocks noChangeArrowheads="1"/>
            </p:cNvSpPr>
            <p:nvPr userDrawn="1"/>
          </p:nvSpPr>
          <p:spPr bwMode="auto">
            <a:xfrm flipV="1">
              <a:off x="6126" y="3158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86" name="Rectangle 114"/>
            <p:cNvSpPr>
              <a:spLocks noChangeArrowheads="1"/>
            </p:cNvSpPr>
            <p:nvPr userDrawn="1"/>
          </p:nvSpPr>
          <p:spPr bwMode="auto">
            <a:xfrm flipV="1">
              <a:off x="6242" y="3158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87" name="Rectangle 115"/>
            <p:cNvSpPr>
              <a:spLocks noChangeArrowheads="1"/>
            </p:cNvSpPr>
            <p:nvPr userDrawn="1"/>
          </p:nvSpPr>
          <p:spPr bwMode="auto">
            <a:xfrm flipV="1">
              <a:off x="5893" y="3158"/>
              <a:ext cx="117" cy="115"/>
            </a:xfrm>
            <a:prstGeom prst="rect">
              <a:avLst/>
            </a:prstGeom>
            <a:solidFill>
              <a:srgbClr val="99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8" name="Group 116"/>
          <p:cNvGrpSpPr>
            <a:grpSpLocks/>
          </p:cNvGrpSpPr>
          <p:nvPr/>
        </p:nvGrpSpPr>
        <p:grpSpPr bwMode="auto">
          <a:xfrm>
            <a:off x="12478423" y="5373689"/>
            <a:ext cx="986752" cy="182563"/>
            <a:chOff x="5893" y="3385"/>
            <a:chExt cx="466" cy="115"/>
          </a:xfrm>
        </p:grpSpPr>
        <p:sp>
          <p:nvSpPr>
            <p:cNvPr id="28789" name="Rectangle 117"/>
            <p:cNvSpPr>
              <a:spLocks noChangeArrowheads="1"/>
            </p:cNvSpPr>
            <p:nvPr userDrawn="1"/>
          </p:nvSpPr>
          <p:spPr bwMode="auto">
            <a:xfrm flipV="1">
              <a:off x="6010" y="3385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90" name="Rectangle 118"/>
            <p:cNvSpPr>
              <a:spLocks noChangeArrowheads="1"/>
            </p:cNvSpPr>
            <p:nvPr userDrawn="1"/>
          </p:nvSpPr>
          <p:spPr bwMode="auto">
            <a:xfrm flipV="1">
              <a:off x="6126" y="3385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91" name="Rectangle 119"/>
            <p:cNvSpPr>
              <a:spLocks noChangeArrowheads="1"/>
            </p:cNvSpPr>
            <p:nvPr userDrawn="1"/>
          </p:nvSpPr>
          <p:spPr bwMode="auto">
            <a:xfrm flipV="1">
              <a:off x="6242" y="3385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92" name="Rectangle 120"/>
            <p:cNvSpPr>
              <a:spLocks noChangeArrowheads="1"/>
            </p:cNvSpPr>
            <p:nvPr userDrawn="1"/>
          </p:nvSpPr>
          <p:spPr bwMode="auto">
            <a:xfrm flipV="1">
              <a:off x="5893" y="3385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69" name="Group 121"/>
          <p:cNvGrpSpPr>
            <a:grpSpLocks/>
          </p:cNvGrpSpPr>
          <p:nvPr/>
        </p:nvGrpSpPr>
        <p:grpSpPr bwMode="auto">
          <a:xfrm>
            <a:off x="12478423" y="5589589"/>
            <a:ext cx="986752" cy="182563"/>
            <a:chOff x="5893" y="3521"/>
            <a:chExt cx="466" cy="115"/>
          </a:xfrm>
        </p:grpSpPr>
        <p:sp>
          <p:nvSpPr>
            <p:cNvPr id="28794" name="Rectangle 122"/>
            <p:cNvSpPr>
              <a:spLocks noChangeArrowheads="1"/>
            </p:cNvSpPr>
            <p:nvPr userDrawn="1"/>
          </p:nvSpPr>
          <p:spPr bwMode="auto">
            <a:xfrm flipV="1">
              <a:off x="6010" y="3521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95" name="Rectangle 123"/>
            <p:cNvSpPr>
              <a:spLocks noChangeArrowheads="1"/>
            </p:cNvSpPr>
            <p:nvPr userDrawn="1"/>
          </p:nvSpPr>
          <p:spPr bwMode="auto">
            <a:xfrm flipV="1">
              <a:off x="6126" y="3521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96" name="Rectangle 124"/>
            <p:cNvSpPr>
              <a:spLocks noChangeArrowheads="1"/>
            </p:cNvSpPr>
            <p:nvPr userDrawn="1"/>
          </p:nvSpPr>
          <p:spPr bwMode="auto">
            <a:xfrm flipV="1">
              <a:off x="6242" y="3521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797" name="Rectangle 125"/>
            <p:cNvSpPr>
              <a:spLocks noChangeArrowheads="1"/>
            </p:cNvSpPr>
            <p:nvPr userDrawn="1"/>
          </p:nvSpPr>
          <p:spPr bwMode="auto">
            <a:xfrm flipV="1">
              <a:off x="5893" y="3521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70" name="Group 126"/>
          <p:cNvGrpSpPr>
            <a:grpSpLocks/>
          </p:cNvGrpSpPr>
          <p:nvPr/>
        </p:nvGrpSpPr>
        <p:grpSpPr bwMode="auto">
          <a:xfrm>
            <a:off x="12478423" y="5805489"/>
            <a:ext cx="986752" cy="182563"/>
            <a:chOff x="5893" y="3657"/>
            <a:chExt cx="466" cy="115"/>
          </a:xfrm>
        </p:grpSpPr>
        <p:sp>
          <p:nvSpPr>
            <p:cNvPr id="28799" name="Rectangle 127"/>
            <p:cNvSpPr>
              <a:spLocks noChangeArrowheads="1"/>
            </p:cNvSpPr>
            <p:nvPr userDrawn="1"/>
          </p:nvSpPr>
          <p:spPr bwMode="auto">
            <a:xfrm flipV="1">
              <a:off x="6010" y="3657"/>
              <a:ext cx="116" cy="115"/>
            </a:xfrm>
            <a:prstGeom prst="rect">
              <a:avLst/>
            </a:prstGeom>
            <a:solidFill>
              <a:srgbClr val="0099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00" name="Rectangle 128"/>
            <p:cNvSpPr>
              <a:spLocks noChangeArrowheads="1"/>
            </p:cNvSpPr>
            <p:nvPr userDrawn="1"/>
          </p:nvSpPr>
          <p:spPr bwMode="auto">
            <a:xfrm flipV="1">
              <a:off x="6126" y="3657"/>
              <a:ext cx="116" cy="115"/>
            </a:xfrm>
            <a:prstGeom prst="rect">
              <a:avLst/>
            </a:prstGeom>
            <a:solidFill>
              <a:srgbClr val="CCFF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01" name="Rectangle 129"/>
            <p:cNvSpPr>
              <a:spLocks noChangeArrowheads="1"/>
            </p:cNvSpPr>
            <p:nvPr userDrawn="1"/>
          </p:nvSpPr>
          <p:spPr bwMode="auto">
            <a:xfrm flipV="1">
              <a:off x="6242" y="3657"/>
              <a:ext cx="117" cy="115"/>
            </a:xfrm>
            <a:prstGeom prst="rect">
              <a:avLst/>
            </a:prstGeom>
            <a:solidFill>
              <a:srgbClr val="99CCCC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02" name="Rectangle 130"/>
            <p:cNvSpPr>
              <a:spLocks noChangeArrowheads="1"/>
            </p:cNvSpPr>
            <p:nvPr userDrawn="1"/>
          </p:nvSpPr>
          <p:spPr bwMode="auto">
            <a:xfrm flipV="1">
              <a:off x="5893" y="3657"/>
              <a:ext cx="117" cy="115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71" name="Group 131"/>
          <p:cNvGrpSpPr>
            <a:grpSpLocks/>
          </p:cNvGrpSpPr>
          <p:nvPr/>
        </p:nvGrpSpPr>
        <p:grpSpPr bwMode="auto">
          <a:xfrm>
            <a:off x="12478423" y="6165853"/>
            <a:ext cx="986752" cy="182563"/>
            <a:chOff x="5893" y="3884"/>
            <a:chExt cx="466" cy="115"/>
          </a:xfrm>
        </p:grpSpPr>
        <p:sp>
          <p:nvSpPr>
            <p:cNvPr id="28804" name="Rectangle 132"/>
            <p:cNvSpPr>
              <a:spLocks noChangeArrowheads="1"/>
            </p:cNvSpPr>
            <p:nvPr userDrawn="1"/>
          </p:nvSpPr>
          <p:spPr bwMode="auto">
            <a:xfrm flipV="1">
              <a:off x="6010" y="3884"/>
              <a:ext cx="116" cy="115"/>
            </a:xfrm>
            <a:prstGeom prst="rect">
              <a:avLst/>
            </a:prstGeom>
            <a:solidFill>
              <a:srgbClr val="FF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05" name="Rectangle 133"/>
            <p:cNvSpPr>
              <a:spLocks noChangeArrowheads="1"/>
            </p:cNvSpPr>
            <p:nvPr userDrawn="1"/>
          </p:nvSpPr>
          <p:spPr bwMode="auto">
            <a:xfrm flipV="1">
              <a:off x="6126" y="3884"/>
              <a:ext cx="116" cy="115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06" name="Rectangle 134"/>
            <p:cNvSpPr>
              <a:spLocks noChangeArrowheads="1"/>
            </p:cNvSpPr>
            <p:nvPr userDrawn="1"/>
          </p:nvSpPr>
          <p:spPr bwMode="auto">
            <a:xfrm flipV="1">
              <a:off x="6242" y="3884"/>
              <a:ext cx="117" cy="115"/>
            </a:xfrm>
            <a:prstGeom prst="rect">
              <a:avLst/>
            </a:prstGeom>
            <a:solidFill>
              <a:srgbClr val="FFCC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07" name="Rectangle 135"/>
            <p:cNvSpPr>
              <a:spLocks noChangeArrowheads="1"/>
            </p:cNvSpPr>
            <p:nvPr userDrawn="1"/>
          </p:nvSpPr>
          <p:spPr bwMode="auto">
            <a:xfrm flipV="1">
              <a:off x="5893" y="3884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72" name="Group 136"/>
          <p:cNvGrpSpPr>
            <a:grpSpLocks/>
          </p:cNvGrpSpPr>
          <p:nvPr/>
        </p:nvGrpSpPr>
        <p:grpSpPr bwMode="auto">
          <a:xfrm>
            <a:off x="12478423" y="6391277"/>
            <a:ext cx="986752" cy="182563"/>
            <a:chOff x="5893" y="4026"/>
            <a:chExt cx="466" cy="115"/>
          </a:xfrm>
        </p:grpSpPr>
        <p:sp>
          <p:nvSpPr>
            <p:cNvPr id="28809" name="Rectangle 137"/>
            <p:cNvSpPr>
              <a:spLocks noChangeArrowheads="1"/>
            </p:cNvSpPr>
            <p:nvPr userDrawn="1"/>
          </p:nvSpPr>
          <p:spPr bwMode="auto">
            <a:xfrm flipV="1">
              <a:off x="6010" y="4026"/>
              <a:ext cx="116" cy="115"/>
            </a:xfrm>
            <a:prstGeom prst="rect">
              <a:avLst/>
            </a:prstGeom>
            <a:solidFill>
              <a:srgbClr val="0066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10" name="Rectangle 138"/>
            <p:cNvSpPr>
              <a:spLocks noChangeArrowheads="1"/>
            </p:cNvSpPr>
            <p:nvPr userDrawn="1"/>
          </p:nvSpPr>
          <p:spPr bwMode="auto">
            <a:xfrm flipV="1">
              <a:off x="6126" y="4026"/>
              <a:ext cx="116" cy="115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11" name="Rectangle 139"/>
            <p:cNvSpPr>
              <a:spLocks noChangeArrowheads="1"/>
            </p:cNvSpPr>
            <p:nvPr userDrawn="1"/>
          </p:nvSpPr>
          <p:spPr bwMode="auto">
            <a:xfrm flipV="1">
              <a:off x="6242" y="4026"/>
              <a:ext cx="117" cy="11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12" name="Rectangle 140"/>
            <p:cNvSpPr>
              <a:spLocks noChangeArrowheads="1"/>
            </p:cNvSpPr>
            <p:nvPr userDrawn="1"/>
          </p:nvSpPr>
          <p:spPr bwMode="auto">
            <a:xfrm flipV="1">
              <a:off x="5893" y="4026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  <p:grpSp>
        <p:nvGrpSpPr>
          <p:cNvPr id="2073" name="Group 141"/>
          <p:cNvGrpSpPr>
            <a:grpSpLocks/>
          </p:cNvGrpSpPr>
          <p:nvPr/>
        </p:nvGrpSpPr>
        <p:grpSpPr bwMode="auto">
          <a:xfrm>
            <a:off x="12478423" y="6615113"/>
            <a:ext cx="986752" cy="182563"/>
            <a:chOff x="5893" y="4167"/>
            <a:chExt cx="466" cy="115"/>
          </a:xfrm>
        </p:grpSpPr>
        <p:sp>
          <p:nvSpPr>
            <p:cNvPr id="28814" name="Rectangle 142"/>
            <p:cNvSpPr>
              <a:spLocks noChangeArrowheads="1"/>
            </p:cNvSpPr>
            <p:nvPr userDrawn="1"/>
          </p:nvSpPr>
          <p:spPr bwMode="auto">
            <a:xfrm flipV="1">
              <a:off x="6010" y="4167"/>
              <a:ext cx="116" cy="115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15" name="Rectangle 143"/>
            <p:cNvSpPr>
              <a:spLocks noChangeArrowheads="1"/>
            </p:cNvSpPr>
            <p:nvPr userDrawn="1"/>
          </p:nvSpPr>
          <p:spPr bwMode="auto">
            <a:xfrm flipV="1">
              <a:off x="6126" y="4167"/>
              <a:ext cx="116" cy="115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16" name="Rectangle 144"/>
            <p:cNvSpPr>
              <a:spLocks noChangeArrowheads="1"/>
            </p:cNvSpPr>
            <p:nvPr userDrawn="1"/>
          </p:nvSpPr>
          <p:spPr bwMode="auto">
            <a:xfrm flipV="1">
              <a:off x="6242" y="4167"/>
              <a:ext cx="117" cy="11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  <p:sp>
          <p:nvSpPr>
            <p:cNvPr id="28817" name="Rectangle 145"/>
            <p:cNvSpPr>
              <a:spLocks noChangeArrowheads="1"/>
            </p:cNvSpPr>
            <p:nvPr userDrawn="1"/>
          </p:nvSpPr>
          <p:spPr bwMode="auto">
            <a:xfrm flipV="1">
              <a:off x="5893" y="4167"/>
              <a:ext cx="117" cy="11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 sz="1200">
                <a:solidFill>
                  <a:srgbClr val="FFFFFF"/>
                </a:solidFill>
                <a:latin typeface="FrutigerNext LT Regular" pitchFamily="34" charset="0"/>
                <a:ea typeface="MS PGothic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386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  <p:sldLayoutId id="2147483906" r:id="rId13"/>
    <p:sldLayoutId id="2147483907" r:id="rId14"/>
    <p:sldLayoutId id="2147483908" r:id="rId15"/>
    <p:sldLayoutId id="2147483909" r:id="rId16"/>
    <p:sldLayoutId id="2147483910" r:id="rId17"/>
  </p:sldLayoutIdLst>
  <p:hf sldNum="0" hdr="0" ftr="0"/>
  <p:txStyles>
    <p:titleStyle>
      <a:lvl1pPr algn="l" defTabSz="799637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+mj-lt"/>
          <a:ea typeface="+mj-ea"/>
          <a:cs typeface="+mj-cs"/>
        </a:defRPr>
      </a:lvl1pPr>
      <a:lvl2pPr algn="l" defTabSz="799637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2pPr>
      <a:lvl3pPr algn="l" defTabSz="799637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3pPr>
      <a:lvl4pPr algn="l" defTabSz="799637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4pPr>
      <a:lvl5pPr algn="l" defTabSz="799637" rtl="0" eaLnBrk="0" fontAlgn="base" hangingPunct="0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5pPr>
      <a:lvl6pPr marL="456027" algn="l" defTabSz="799637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6pPr>
      <a:lvl7pPr marL="912060" algn="l" defTabSz="799637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7pPr>
      <a:lvl8pPr marL="1368091" algn="l" defTabSz="799637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8pPr>
      <a:lvl9pPr marL="1824124" algn="l" defTabSz="799637" rtl="0" fontAlgn="base">
        <a:spcBef>
          <a:spcPct val="0"/>
        </a:spcBef>
        <a:spcAft>
          <a:spcPct val="0"/>
        </a:spcAft>
        <a:defRPr sz="3400">
          <a:solidFill>
            <a:srgbClr val="990000"/>
          </a:solidFill>
          <a:latin typeface="FrutigerNext LT Medium" pitchFamily="34" charset="0"/>
          <a:ea typeface="黑体" pitchFamily="2" charset="-122"/>
        </a:defRPr>
      </a:lvl9pPr>
    </p:titleStyle>
    <p:bodyStyle>
      <a:lvl1pPr marL="299267" indent="-299267" algn="l" defTabSz="799637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bg2"/>
        </a:buClr>
        <a:buSzPct val="60000"/>
        <a:buFont typeface="Wingdings" pitchFamily="2" charset="2"/>
        <a:buChar char="l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650794" indent="-250188" algn="l" defTabSz="799637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p"/>
        <a:defRPr>
          <a:solidFill>
            <a:schemeClr val="tx1"/>
          </a:solidFill>
          <a:latin typeface="+mn-lt"/>
          <a:ea typeface="+mn-ea"/>
        </a:defRPr>
      </a:lvl2pPr>
      <a:lvl3pPr marL="1000735" indent="-201098" algn="l" defTabSz="799637" rtl="0" eaLnBrk="0" fontAlgn="base" hangingPunct="0">
        <a:lnSpc>
          <a:spcPct val="140000"/>
        </a:lnSpc>
        <a:spcBef>
          <a:spcPct val="0"/>
        </a:spcBef>
        <a:spcAft>
          <a:spcPct val="0"/>
        </a:spcAft>
        <a:buSzPct val="50000"/>
        <a:buFont typeface="Wingdings" pitchFamily="2" charset="2"/>
        <a:buChar char="n"/>
        <a:defRPr sz="1600">
          <a:solidFill>
            <a:schemeClr val="tx1"/>
          </a:solidFill>
          <a:latin typeface="FrutigerNext LT Light" pitchFamily="34" charset="0"/>
          <a:ea typeface="+mn-ea"/>
        </a:defRPr>
      </a:lvl3pPr>
      <a:lvl4pPr marL="1398176" indent="-199510" algn="l" defTabSz="799637" rtl="0" eaLnBrk="0" fontAlgn="base" hangingPunct="0">
        <a:lnSpc>
          <a:spcPct val="140000"/>
        </a:lnSpc>
        <a:spcBef>
          <a:spcPct val="0"/>
        </a:spcBef>
        <a:spcAft>
          <a:spcPct val="0"/>
        </a:spcAft>
        <a:buChar char="–"/>
        <a:defRPr sz="1400">
          <a:solidFill>
            <a:schemeClr val="tx1"/>
          </a:solidFill>
          <a:latin typeface="+mj-lt"/>
          <a:ea typeface="+mn-ea"/>
        </a:defRPr>
      </a:lvl4pPr>
      <a:lvl5pPr marL="1798786" indent="-201098" algn="l" defTabSz="799637" rtl="0" eaLnBrk="0" fontAlgn="base" hangingPunct="0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5pPr>
      <a:lvl6pPr marL="2254818" indent="-201098" algn="l" defTabSz="799637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6pPr>
      <a:lvl7pPr marL="2710847" indent="-201098" algn="l" defTabSz="799637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7pPr>
      <a:lvl8pPr marL="3166875" indent="-201098" algn="l" defTabSz="799637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8pPr>
      <a:lvl9pPr marL="3622908" indent="-201098" algn="l" defTabSz="799637" rtl="0" fontAlgn="base">
        <a:lnSpc>
          <a:spcPct val="140000"/>
        </a:lnSpc>
        <a:spcBef>
          <a:spcPct val="0"/>
        </a:spcBef>
        <a:spcAft>
          <a:spcPct val="0"/>
        </a:spcAft>
        <a:buFont typeface="FrutigerNext LT Medium" pitchFamily="34" charset="0"/>
        <a:buChar char="~"/>
        <a:defRPr sz="12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027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060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091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124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0151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6182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2215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8245" algn="l" defTabSz="91206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941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77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3161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2006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368370" y="6402806"/>
            <a:ext cx="62915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392CFB38-2480-43F5-A4F6-80FA34563A2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1711" y="6421036"/>
            <a:ext cx="919271" cy="20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1" r:id="rId2"/>
    <p:sldLayoutId id="2147483932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940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519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38131F-E767-8C4B-9C7A-D10F13F75A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9716F5-BA15-8E49-87BC-A78702BC9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4797713"/>
            <a:ext cx="6522800" cy="1148459"/>
          </a:xfrm>
        </p:spPr>
        <p:txBody>
          <a:bodyPr/>
          <a:lstStyle/>
          <a:p>
            <a:r>
              <a:rPr kumimoji="1" lang="en-US" altLang="zh-CN" dirty="0"/>
              <a:t>Galileo Research Centre </a:t>
            </a:r>
          </a:p>
          <a:p>
            <a:r>
              <a:rPr kumimoji="1" lang="en-US" altLang="zh-TW" dirty="0"/>
              <a:t>Matsui Masafumi, Isobe Teppei</a:t>
            </a:r>
          </a:p>
          <a:p>
            <a:r>
              <a:rPr kumimoji="1" lang="en-US" altLang="zh-TW" dirty="0"/>
              <a:t>2026.07.21</a:t>
            </a:r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>
          <a:xfrm>
            <a:off x="894274" y="900634"/>
            <a:ext cx="9431253" cy="845973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Proposals for DBI &amp; BIP development</a:t>
            </a:r>
          </a:p>
          <a:p>
            <a:endParaRPr lang="en-US" altLang="zh-TW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1CF5C-FFD8-4B4C-9DD3-61EF3EAD4C2F}"/>
              </a:ext>
            </a:extLst>
          </p:cNvPr>
          <p:cNvSpPr/>
          <p:nvPr/>
        </p:nvSpPr>
        <p:spPr>
          <a:xfrm>
            <a:off x="820976" y="1425957"/>
            <a:ext cx="90324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sz="2400" b="1" dirty="0">
                <a:ea typeface="Microsoft YaHei" panose="020B0503020204020204" pitchFamily="34" charset="-122"/>
                <a:cs typeface="Arial" panose="020B0604020202020204" pitchFamily="34" charset="0"/>
              </a:rPr>
              <a:t>Supplemental : Platform Concept for DBI &amp; BIP development</a:t>
            </a:r>
          </a:p>
        </p:txBody>
      </p:sp>
    </p:spTree>
    <p:extLst>
      <p:ext uri="{BB962C8B-B14F-4D97-AF65-F5344CB8AC3E}">
        <p14:creationId xmlns:p14="http://schemas.microsoft.com/office/powerpoint/2010/main" val="73990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58F2A36-517C-4301-ADAD-3FACFC484B13}"/>
              </a:ext>
            </a:extLst>
          </p:cNvPr>
          <p:cNvGrpSpPr/>
          <p:nvPr/>
        </p:nvGrpSpPr>
        <p:grpSpPr>
          <a:xfrm>
            <a:off x="262202" y="1001657"/>
            <a:ext cx="5014121" cy="1972796"/>
            <a:chOff x="262202" y="1001657"/>
            <a:chExt cx="5014121" cy="1972796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BAA154E-CCC1-4BC8-BC61-BF96739A1A6D}"/>
                </a:ext>
              </a:extLst>
            </p:cNvPr>
            <p:cNvSpPr txBox="1"/>
            <p:nvPr/>
          </p:nvSpPr>
          <p:spPr>
            <a:xfrm>
              <a:off x="262202" y="1838880"/>
              <a:ext cx="21244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/>
                <a:t>- Degradation </a:t>
              </a:r>
              <a:r>
                <a:rPr kumimoji="1" lang="en-US" altLang="ja-JP" sz="1200" dirty="0"/>
                <a:t>(B’ at t1)</a:t>
              </a:r>
              <a:r>
                <a:rPr kumimoji="1" lang="en-US" altLang="ja-JP" sz="1400" dirty="0"/>
                <a:t> -</a:t>
              </a:r>
              <a:endParaRPr kumimoji="1" lang="ja-JP" altLang="en-US" dirty="0"/>
            </a:p>
          </p:txBody>
        </p:sp>
        <p:sp>
          <p:nvSpPr>
            <p:cNvPr id="130" name="テキスト ボックス 9">
              <a:extLst>
                <a:ext uri="{FF2B5EF4-FFF2-40B4-BE49-F238E27FC236}">
                  <a16:creationId xmlns:a16="http://schemas.microsoft.com/office/drawing/2014/main" id="{17AB2EAA-0E88-42DD-BF4E-2A1EB563C941}"/>
                </a:ext>
              </a:extLst>
            </p:cNvPr>
            <p:cNvSpPr txBox="1"/>
            <p:nvPr/>
          </p:nvSpPr>
          <p:spPr>
            <a:xfrm>
              <a:off x="407984" y="1409025"/>
              <a:ext cx="23083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defTabSz="914400"/>
              <a:r>
                <a:rPr kumimoji="1" lang="en-US" altLang="ja-JP" sz="1000" dirty="0">
                  <a:solidFill>
                    <a:srgbClr val="0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(Normalized in the initial state)</a:t>
              </a:r>
              <a:endParaRPr kumimoji="1" lang="en-US" altLang="ja-JP" sz="900" dirty="0"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sp>
          <p:nvSpPr>
            <p:cNvPr id="116" name="テキスト ボックス 9">
              <a:extLst>
                <a:ext uri="{FF2B5EF4-FFF2-40B4-BE49-F238E27FC236}">
                  <a16:creationId xmlns:a16="http://schemas.microsoft.com/office/drawing/2014/main" id="{6837D7F4-E716-4C36-B40F-2CE0722E5706}"/>
                </a:ext>
              </a:extLst>
            </p:cNvPr>
            <p:cNvSpPr txBox="1"/>
            <p:nvPr/>
          </p:nvSpPr>
          <p:spPr>
            <a:xfrm>
              <a:off x="309163" y="1090352"/>
              <a:ext cx="1952457" cy="252377"/>
            </a:xfrm>
            <a:prstGeom prst="rect">
              <a:avLst/>
            </a:prstGeom>
            <a:solidFill>
              <a:srgbClr val="000000">
                <a:lumMod val="65000"/>
                <a:lumOff val="35000"/>
              </a:srgbClr>
            </a:solidFill>
            <a:effectLst>
              <a:glow rad="63500">
                <a:srgbClr val="000000">
                  <a:satMod val="175000"/>
                  <a:alpha val="40000"/>
                </a:srgbClr>
              </a:glow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18288" tIns="18288" rIns="18288" bIns="18288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iryo UI" panose="020B0604030504040204" pitchFamily="50" charset="-128"/>
                  <a:ea typeface="Meiryo UI" panose="020B0604030504040204" pitchFamily="50" charset="-128"/>
                  <a:cs typeface="Meiryo UI" panose="020B0604030504040204" pitchFamily="50" charset="-128"/>
                </a:rPr>
                <a:t>Degradation of OLED</a:t>
              </a:r>
              <a:endParaRPr kumimoji="1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endParaRP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84EA936-2422-4DF4-B156-5DF877000DAC}"/>
                </a:ext>
              </a:extLst>
            </p:cNvPr>
            <p:cNvGrpSpPr/>
            <p:nvPr/>
          </p:nvGrpSpPr>
          <p:grpSpPr>
            <a:xfrm>
              <a:off x="1397069" y="1001657"/>
              <a:ext cx="3879254" cy="1972796"/>
              <a:chOff x="1397069" y="1066973"/>
              <a:chExt cx="3879254" cy="1972796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DDDC2D4-A52A-4EA1-B485-3A7E4342DD9F}"/>
                  </a:ext>
                </a:extLst>
              </p:cNvPr>
              <p:cNvGrpSpPr/>
              <p:nvPr/>
            </p:nvGrpSpPr>
            <p:grpSpPr>
              <a:xfrm>
                <a:off x="1397069" y="1066973"/>
                <a:ext cx="3879254" cy="1972796"/>
                <a:chOff x="7161594" y="-1702227"/>
                <a:chExt cx="5726166" cy="2912045"/>
              </a:xfrm>
            </p:grpSpPr>
            <p:pic>
              <p:nvPicPr>
                <p:cNvPr id="175" name="Picture 174">
                  <a:extLst>
                    <a:ext uri="{FF2B5EF4-FFF2-40B4-BE49-F238E27FC236}">
                      <a16:creationId xmlns:a16="http://schemas.microsoft.com/office/drawing/2014/main" id="{DE5D2F1F-56D2-4272-A580-69F70867F2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94033" y="-1539664"/>
                  <a:ext cx="3435627" cy="2715873"/>
                </a:xfrm>
                <a:prstGeom prst="rect">
                  <a:avLst/>
                </a:prstGeom>
              </p:spPr>
            </p:pic>
            <p:sp>
              <p:nvSpPr>
                <p:cNvPr id="176" name="円弧 223">
                  <a:extLst>
                    <a:ext uri="{FF2B5EF4-FFF2-40B4-BE49-F238E27FC236}">
                      <a16:creationId xmlns:a16="http://schemas.microsoft.com/office/drawing/2014/main" id="{49699D2C-4138-46DD-9A36-14D086B3E575}"/>
                    </a:ext>
                  </a:extLst>
                </p:cNvPr>
                <p:cNvSpPr/>
                <p:nvPr/>
              </p:nvSpPr>
              <p:spPr>
                <a:xfrm rot="1123569" flipH="1" flipV="1">
                  <a:off x="10549411" y="-1452385"/>
                  <a:ext cx="2338349" cy="783703"/>
                </a:xfrm>
                <a:prstGeom prst="arc">
                  <a:avLst>
                    <a:gd name="adj1" fmla="val 16200000"/>
                    <a:gd name="adj2" fmla="val 21164377"/>
                  </a:avLst>
                </a:prstGeom>
                <a:noFill/>
                <a:ln w="22225">
                  <a:solidFill>
                    <a:srgbClr val="0000FF"/>
                  </a:solidFill>
                  <a:prstDash val="solid"/>
                  <a:headEnd type="triangle" w="lg" len="lg"/>
                  <a:tailEnd type="none" w="lg" len="lg"/>
                </a:ln>
                <a:effectLst/>
              </p:spPr>
              <p:txBody>
                <a:bodyPr anchor="ctr"/>
                <a:lstStyle/>
                <a:p>
                  <a:pPr algn="ctr" defTabSz="914400">
                    <a:defRPr/>
                  </a:pPr>
                  <a:endParaRPr kumimoji="1" lang="ja-JP" altLang="en-US" kern="0">
                    <a:solidFill>
                      <a:prstClr val="black"/>
                    </a:solidFill>
                    <a:latin typeface="Century Schoolbook"/>
                    <a:ea typeface="ＭＳ Ｐ明朝" panose="02020600040205080304" pitchFamily="18" charset="-128"/>
                  </a:endParaRPr>
                </a:p>
              </p:txBody>
            </p:sp>
            <p:sp>
              <p:nvSpPr>
                <p:cNvPr id="177" name="テキスト ボックス 9">
                  <a:extLst>
                    <a:ext uri="{FF2B5EF4-FFF2-40B4-BE49-F238E27FC236}">
                      <a16:creationId xmlns:a16="http://schemas.microsoft.com/office/drawing/2014/main" id="{7C3324E3-8EF9-4CC4-AA14-D3E8E2279812}"/>
                    </a:ext>
                  </a:extLst>
                </p:cNvPr>
                <p:cNvSpPr txBox="1"/>
                <p:nvPr/>
              </p:nvSpPr>
              <p:spPr>
                <a:xfrm>
                  <a:off x="10685367" y="-1474001"/>
                  <a:ext cx="860826" cy="4543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400" dirty="0" err="1">
                      <a:solidFill>
                        <a:srgbClr val="0000FF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Δη</a:t>
                  </a:r>
                  <a:r>
                    <a:rPr kumimoji="1" lang="ja-JP" altLang="en-US" sz="1400" baseline="30000" dirty="0">
                      <a:solidFill>
                        <a:srgbClr val="0000FF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１</a:t>
                  </a:r>
                  <a:endParaRPr kumimoji="1" lang="en-US" altLang="ja-JP" sz="1400" baseline="30000" dirty="0">
                    <a:solidFill>
                      <a:srgbClr val="0000FF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78" name="Freeform 133">
                  <a:extLst>
                    <a:ext uri="{FF2B5EF4-FFF2-40B4-BE49-F238E27FC236}">
                      <a16:creationId xmlns:a16="http://schemas.microsoft.com/office/drawing/2014/main" id="{8B5915E3-0824-46C2-8DA4-87CF2F370294}"/>
                    </a:ext>
                  </a:extLst>
                </p:cNvPr>
                <p:cNvSpPr/>
                <p:nvPr/>
              </p:nvSpPr>
              <p:spPr bwMode="auto">
                <a:xfrm>
                  <a:off x="10685367" y="-580694"/>
                  <a:ext cx="895204" cy="595334"/>
                </a:xfrm>
                <a:custGeom>
                  <a:avLst/>
                  <a:gdLst>
                    <a:gd name="connsiteX0" fmla="*/ 752600 w 752600"/>
                    <a:gd name="connsiteY0" fmla="*/ 0 h 314325"/>
                    <a:gd name="connsiteX1" fmla="*/ 123950 w 752600"/>
                    <a:gd name="connsiteY1" fmla="*/ 138113 h 314325"/>
                    <a:gd name="connsiteX2" fmla="*/ 125 w 752600"/>
                    <a:gd name="connsiteY2" fmla="*/ 314325 h 314325"/>
                    <a:gd name="connsiteX0" fmla="*/ 769174 w 769174"/>
                    <a:gd name="connsiteY0" fmla="*/ 0 h 309563"/>
                    <a:gd name="connsiteX1" fmla="*/ 140524 w 769174"/>
                    <a:gd name="connsiteY1" fmla="*/ 138113 h 309563"/>
                    <a:gd name="connsiteX2" fmla="*/ 31 w 769174"/>
                    <a:gd name="connsiteY2" fmla="*/ 309563 h 309563"/>
                    <a:gd name="connsiteX0" fmla="*/ 769143 w 769143"/>
                    <a:gd name="connsiteY0" fmla="*/ 0 h 309563"/>
                    <a:gd name="connsiteX1" fmla="*/ 140493 w 769143"/>
                    <a:gd name="connsiteY1" fmla="*/ 138113 h 309563"/>
                    <a:gd name="connsiteX2" fmla="*/ 0 w 769143"/>
                    <a:gd name="connsiteY2" fmla="*/ 309563 h 309563"/>
                    <a:gd name="connsiteX0" fmla="*/ 966786 w 966786"/>
                    <a:gd name="connsiteY0" fmla="*/ 0 h 642938"/>
                    <a:gd name="connsiteX1" fmla="*/ 338136 w 966786"/>
                    <a:gd name="connsiteY1" fmla="*/ 138113 h 642938"/>
                    <a:gd name="connsiteX2" fmla="*/ 0 w 966786"/>
                    <a:gd name="connsiteY2" fmla="*/ 642938 h 642938"/>
                    <a:gd name="connsiteX0" fmla="*/ 966786 w 966786"/>
                    <a:gd name="connsiteY0" fmla="*/ 0 h 642938"/>
                    <a:gd name="connsiteX1" fmla="*/ 185736 w 966786"/>
                    <a:gd name="connsiteY1" fmla="*/ 295276 h 642938"/>
                    <a:gd name="connsiteX2" fmla="*/ 0 w 966786"/>
                    <a:gd name="connsiteY2" fmla="*/ 642938 h 6429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66786" h="642938">
                      <a:moveTo>
                        <a:pt x="966786" y="0"/>
                      </a:moveTo>
                      <a:cubicBezTo>
                        <a:pt x="715167" y="42863"/>
                        <a:pt x="313926" y="243682"/>
                        <a:pt x="185736" y="295276"/>
                      </a:cubicBezTo>
                      <a:cubicBezTo>
                        <a:pt x="57546" y="346870"/>
                        <a:pt x="20637" y="585788"/>
                        <a:pt x="0" y="642938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rgbClr val="990000">
                      <a:lumMod val="60000"/>
                      <a:lumOff val="40000"/>
                    </a:srgbClr>
                  </a:solidFill>
                  <a:prstDash val="solid"/>
                  <a:round/>
                  <a:headEnd type="none" w="med" len="med"/>
                  <a:tailEnd type="triangle" w="lg" len="lg"/>
                </a:ln>
                <a:effectLst/>
              </p:spPr>
              <p:txBody>
                <a:bodyPr vert="horz" wrap="square" lIns="79200" tIns="39600" rIns="79200" bIns="396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defTabSz="801688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utigerNext LT Regular" pitchFamily="34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179" name="テキスト ボックス 9">
                  <a:extLst>
                    <a:ext uri="{FF2B5EF4-FFF2-40B4-BE49-F238E27FC236}">
                      <a16:creationId xmlns:a16="http://schemas.microsoft.com/office/drawing/2014/main" id="{6BF3394A-49EB-4CA5-B4E1-415375DEE900}"/>
                    </a:ext>
                  </a:extLst>
                </p:cNvPr>
                <p:cNvSpPr txBox="1"/>
                <p:nvPr/>
              </p:nvSpPr>
              <p:spPr>
                <a:xfrm>
                  <a:off x="9951696" y="-200201"/>
                  <a:ext cx="848570" cy="4543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400" dirty="0">
                      <a:solidFill>
                        <a:srgbClr val="FF0000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Δη</a:t>
                  </a:r>
                  <a:r>
                    <a:rPr kumimoji="1" lang="en-US" altLang="ja-JP" sz="1400" baseline="30000" dirty="0">
                      <a:solidFill>
                        <a:srgbClr val="FF0000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2</a:t>
                  </a: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0C12E795-7AB1-4FB0-9A2B-A48673894D59}"/>
                    </a:ext>
                  </a:extLst>
                </p:cNvPr>
                <p:cNvSpPr/>
                <p:nvPr/>
              </p:nvSpPr>
              <p:spPr bwMode="auto">
                <a:xfrm>
                  <a:off x="10430387" y="-1451804"/>
                  <a:ext cx="84134" cy="84134"/>
                </a:xfrm>
                <a:prstGeom prst="ellipse">
                  <a:avLst/>
                </a:prstGeom>
                <a:solidFill>
                  <a:srgbClr val="FFCC66">
                    <a:lumMod val="75000"/>
                  </a:srgbClr>
                </a:solidFill>
                <a:ln w="9525" cap="flat" cmpd="sng" algn="ctr">
                  <a:solidFill>
                    <a:srgbClr val="000000">
                      <a:lumMod val="65000"/>
                      <a:lumOff val="3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79200" tIns="39600" rIns="79200" bIns="396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defTabSz="801688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utigerNext LT Regular" pitchFamily="34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D23B3815-B4DF-41A0-B4D9-D11C4C4B7E36}"/>
                    </a:ext>
                  </a:extLst>
                </p:cNvPr>
                <p:cNvSpPr/>
                <p:nvPr/>
              </p:nvSpPr>
              <p:spPr bwMode="auto">
                <a:xfrm>
                  <a:off x="11505378" y="-641520"/>
                  <a:ext cx="84134" cy="84134"/>
                </a:xfrm>
                <a:prstGeom prst="ellipse">
                  <a:avLst/>
                </a:prstGeom>
                <a:solidFill>
                  <a:srgbClr val="FFCC66">
                    <a:lumMod val="75000"/>
                  </a:srgbClr>
                </a:solidFill>
                <a:ln w="9525" cap="flat" cmpd="sng" algn="ctr">
                  <a:solidFill>
                    <a:srgbClr val="000000">
                      <a:lumMod val="65000"/>
                      <a:lumOff val="3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79200" tIns="39600" rIns="79200" bIns="396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defTabSz="801688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utigerNext LT Regular" pitchFamily="34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1463F271-5438-4020-85B6-97D5FA2FAA23}"/>
                    </a:ext>
                  </a:extLst>
                </p:cNvPr>
                <p:cNvSpPr/>
                <p:nvPr/>
              </p:nvSpPr>
              <p:spPr bwMode="auto">
                <a:xfrm>
                  <a:off x="10727522" y="-270334"/>
                  <a:ext cx="84134" cy="84134"/>
                </a:xfrm>
                <a:prstGeom prst="ellipse">
                  <a:avLst/>
                </a:prstGeom>
                <a:solidFill>
                  <a:srgbClr val="FFCC66">
                    <a:lumMod val="20000"/>
                    <a:lumOff val="80000"/>
                  </a:srgbClr>
                </a:solidFill>
                <a:ln w="9525" cap="flat" cmpd="sng" algn="ctr">
                  <a:solidFill>
                    <a:srgbClr val="000000">
                      <a:lumMod val="65000"/>
                      <a:lumOff val="3500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79200" tIns="39600" rIns="79200" bIns="3960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lvl="0" indent="0" defTabSz="801688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FrutigerNext LT Regular" pitchFamily="34" charset="0"/>
                    <a:ea typeface="ＭＳ Ｐゴシック" pitchFamily="34" charset="-128"/>
                  </a:endParaRPr>
                </a:p>
              </p:txBody>
            </p:sp>
            <p:sp>
              <p:nvSpPr>
                <p:cNvPr id="186" name="テキスト ボックス 9">
                  <a:extLst>
                    <a:ext uri="{FF2B5EF4-FFF2-40B4-BE49-F238E27FC236}">
                      <a16:creationId xmlns:a16="http://schemas.microsoft.com/office/drawing/2014/main" id="{94DB8944-7D8A-489D-83A3-AFADD434094D}"/>
                    </a:ext>
                  </a:extLst>
                </p:cNvPr>
                <p:cNvSpPr txBox="1"/>
                <p:nvPr/>
              </p:nvSpPr>
              <p:spPr>
                <a:xfrm>
                  <a:off x="11077479" y="869087"/>
                  <a:ext cx="717230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90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0</a:t>
                  </a:r>
                  <a:endParaRPr kumimoji="1" lang="en-US" altLang="ja-JP" sz="80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87" name="Line 130">
                  <a:extLst>
                    <a:ext uri="{FF2B5EF4-FFF2-40B4-BE49-F238E27FC236}">
                      <a16:creationId xmlns:a16="http://schemas.microsoft.com/office/drawing/2014/main" id="{17954E64-2FD6-428E-958B-F09F3DC548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679972" y="-17218"/>
                  <a:ext cx="0" cy="90694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1219272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Meiryo UI" panose="020B0604030504040204" pitchFamily="34" charset="-128"/>
                    <a:ea typeface="Meiryo UI" panose="020B0604030504040204" pitchFamily="34" charset="-128"/>
                    <a:cs typeface="Meiryo UI" panose="020B0604030504040204" pitchFamily="34" charset="-128"/>
                  </a:endParaRPr>
                </a:p>
              </p:txBody>
            </p:sp>
            <p:sp>
              <p:nvSpPr>
                <p:cNvPr id="188" name="テキスト ボックス 9">
                  <a:extLst>
                    <a:ext uri="{FF2B5EF4-FFF2-40B4-BE49-F238E27FC236}">
                      <a16:creationId xmlns:a16="http://schemas.microsoft.com/office/drawing/2014/main" id="{FCCF4DA1-2A2B-4D10-85AC-89C2242C3D24}"/>
                    </a:ext>
                  </a:extLst>
                </p:cNvPr>
                <p:cNvSpPr txBox="1"/>
                <p:nvPr/>
              </p:nvSpPr>
              <p:spPr>
                <a:xfrm>
                  <a:off x="10415739" y="811275"/>
                  <a:ext cx="717230" cy="3634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000" b="1" dirty="0">
                      <a:solidFill>
                        <a:srgbClr val="C00000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t1</a:t>
                  </a:r>
                  <a:endParaRPr kumimoji="1" lang="en-US" altLang="ja-JP" sz="900" b="1" dirty="0">
                    <a:solidFill>
                      <a:srgbClr val="C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89" name="テキスト ボックス 9">
                  <a:extLst>
                    <a:ext uri="{FF2B5EF4-FFF2-40B4-BE49-F238E27FC236}">
                      <a16:creationId xmlns:a16="http://schemas.microsoft.com/office/drawing/2014/main" id="{1C70F4FF-8921-444A-9FB7-6B1AA8CAA929}"/>
                    </a:ext>
                  </a:extLst>
                </p:cNvPr>
                <p:cNvSpPr txBox="1"/>
                <p:nvPr/>
              </p:nvSpPr>
              <p:spPr>
                <a:xfrm>
                  <a:off x="10128767" y="-1702227"/>
                  <a:ext cx="374989" cy="386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050" b="1" dirty="0">
                      <a:solidFill>
                        <a:srgbClr val="000000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A</a:t>
                  </a:r>
                  <a:endParaRPr kumimoji="1" lang="en-US" altLang="ja-JP" sz="900" b="1" dirty="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92" name="テキスト ボックス 9">
                  <a:extLst>
                    <a:ext uri="{FF2B5EF4-FFF2-40B4-BE49-F238E27FC236}">
                      <a16:creationId xmlns:a16="http://schemas.microsoft.com/office/drawing/2014/main" id="{9C2B7227-4467-42EB-A086-347101526C83}"/>
                    </a:ext>
                  </a:extLst>
                </p:cNvPr>
                <p:cNvSpPr txBox="1"/>
                <p:nvPr/>
              </p:nvSpPr>
              <p:spPr>
                <a:xfrm>
                  <a:off x="11530760" y="-811036"/>
                  <a:ext cx="495460" cy="3748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050" b="1" dirty="0">
                      <a:solidFill>
                        <a:srgbClr val="000000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A’</a:t>
                  </a:r>
                  <a:endParaRPr kumimoji="1" lang="en-US" altLang="ja-JP" sz="900" b="1" dirty="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94" name="テキスト ボックス 9">
                  <a:extLst>
                    <a:ext uri="{FF2B5EF4-FFF2-40B4-BE49-F238E27FC236}">
                      <a16:creationId xmlns:a16="http://schemas.microsoft.com/office/drawing/2014/main" id="{A79C3311-834C-4DF2-93BC-21F9ADAB4960}"/>
                    </a:ext>
                  </a:extLst>
                </p:cNvPr>
                <p:cNvSpPr txBox="1"/>
                <p:nvPr/>
              </p:nvSpPr>
              <p:spPr>
                <a:xfrm>
                  <a:off x="10733073" y="-241596"/>
                  <a:ext cx="553573" cy="3748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050" b="1" dirty="0">
                      <a:solidFill>
                        <a:srgbClr val="000000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B’</a:t>
                  </a:r>
                  <a:endParaRPr kumimoji="1" lang="en-US" altLang="ja-JP" sz="900" b="1" dirty="0">
                    <a:solidFill>
                      <a:srgbClr val="000000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95" name="テキスト ボックス 9">
                  <a:extLst>
                    <a:ext uri="{FF2B5EF4-FFF2-40B4-BE49-F238E27FC236}">
                      <a16:creationId xmlns:a16="http://schemas.microsoft.com/office/drawing/2014/main" id="{EE18DF0A-F9AC-4CE9-B401-5ED16FF19166}"/>
                    </a:ext>
                  </a:extLst>
                </p:cNvPr>
                <p:cNvSpPr txBox="1"/>
                <p:nvPr/>
              </p:nvSpPr>
              <p:spPr>
                <a:xfrm>
                  <a:off x="11360023" y="-1477238"/>
                  <a:ext cx="176942" cy="327102"/>
                </a:xfrm>
                <a:prstGeom prst="rect">
                  <a:avLst/>
                </a:prstGeom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18288" tIns="18288" rIns="18288" bIns="18288" rtlCol="0">
                  <a:spAutoFit/>
                </a:bodyPr>
                <a:lstStyle/>
                <a:p>
                  <a:pPr algn="ctr" defTabSz="914400"/>
                  <a:r>
                    <a:rPr kumimoji="1" lang="en-US" altLang="ja-JP" sz="1200" dirty="0">
                      <a:solidFill>
                        <a:srgbClr val="FFFFFF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1</a:t>
                  </a:r>
                  <a:endParaRPr kumimoji="1" lang="en-US" altLang="ja-JP" sz="1100" dirty="0">
                    <a:solidFill>
                      <a:srgbClr val="FFFFFF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96" name="テキスト ボックス 9">
                  <a:extLst>
                    <a:ext uri="{FF2B5EF4-FFF2-40B4-BE49-F238E27FC236}">
                      <a16:creationId xmlns:a16="http://schemas.microsoft.com/office/drawing/2014/main" id="{8396118F-0E73-40BE-9F9A-12F1BC4F5A36}"/>
                    </a:ext>
                  </a:extLst>
                </p:cNvPr>
                <p:cNvSpPr txBox="1"/>
                <p:nvPr/>
              </p:nvSpPr>
              <p:spPr>
                <a:xfrm>
                  <a:off x="10336291" y="247749"/>
                  <a:ext cx="176942" cy="327102"/>
                </a:xfrm>
                <a:prstGeom prst="rect">
                  <a:avLst/>
                </a:prstGeom>
                <a:solidFill>
                  <a:srgbClr val="990000">
                    <a:lumMod val="60000"/>
                    <a:lumOff val="4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18288" tIns="18288" rIns="18288" bIns="18288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ja-JP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2</a:t>
                  </a:r>
                  <a:endParaRPr kumimoji="1" lang="en-US" altLang="ja-JP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201" name="テキスト ボックス 9">
                  <a:extLst>
                    <a:ext uri="{FF2B5EF4-FFF2-40B4-BE49-F238E27FC236}">
                      <a16:creationId xmlns:a16="http://schemas.microsoft.com/office/drawing/2014/main" id="{D1101949-3B42-433E-8EEC-559A547DF926}"/>
                    </a:ext>
                  </a:extLst>
                </p:cNvPr>
                <p:cNvSpPr txBox="1"/>
                <p:nvPr/>
              </p:nvSpPr>
              <p:spPr>
                <a:xfrm>
                  <a:off x="10743966" y="853804"/>
                  <a:ext cx="485732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90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to</a:t>
                  </a:r>
                  <a:endParaRPr kumimoji="1" lang="en-US" altLang="ja-JP" sz="80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202" name="テキスト ボックス 9">
                  <a:extLst>
                    <a:ext uri="{FF2B5EF4-FFF2-40B4-BE49-F238E27FC236}">
                      <a16:creationId xmlns:a16="http://schemas.microsoft.com/office/drawing/2014/main" id="{AE29C33D-F0DB-4D33-BC73-AB5B751C3E7B}"/>
                    </a:ext>
                  </a:extLst>
                </p:cNvPr>
                <p:cNvSpPr txBox="1"/>
                <p:nvPr/>
              </p:nvSpPr>
              <p:spPr>
                <a:xfrm>
                  <a:off x="9486669" y="295721"/>
                  <a:ext cx="717230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90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0</a:t>
                  </a:r>
                  <a:endParaRPr kumimoji="1" lang="en-US" altLang="ja-JP" sz="80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203" name="テキスト ボックス 9">
                  <a:extLst>
                    <a:ext uri="{FF2B5EF4-FFF2-40B4-BE49-F238E27FC236}">
                      <a16:creationId xmlns:a16="http://schemas.microsoft.com/office/drawing/2014/main" id="{607E9678-F5CC-496C-BFA5-9DDBD3F4C8B4}"/>
                    </a:ext>
                  </a:extLst>
                </p:cNvPr>
                <p:cNvSpPr txBox="1"/>
                <p:nvPr/>
              </p:nvSpPr>
              <p:spPr>
                <a:xfrm rot="1796634">
                  <a:off x="9949161" y="573971"/>
                  <a:ext cx="71723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00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time</a:t>
                  </a:r>
                  <a:endParaRPr kumimoji="1" lang="en-US" altLang="ja-JP" sz="90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204" name="テキスト ボックス 9">
                  <a:extLst>
                    <a:ext uri="{FF2B5EF4-FFF2-40B4-BE49-F238E27FC236}">
                      <a16:creationId xmlns:a16="http://schemas.microsoft.com/office/drawing/2014/main" id="{87833830-32E3-4353-98CE-1568973FB4B7}"/>
                    </a:ext>
                  </a:extLst>
                </p:cNvPr>
                <p:cNvSpPr txBox="1"/>
                <p:nvPr/>
              </p:nvSpPr>
              <p:spPr>
                <a:xfrm rot="20223912">
                  <a:off x="11250638" y="512834"/>
                  <a:ext cx="591772" cy="386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050" dirty="0" err="1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I</a:t>
                  </a:r>
                  <a:r>
                    <a:rPr kumimoji="1" lang="en-US" altLang="ja-JP" sz="1050" baseline="-25000" dirty="0" err="1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pix</a:t>
                  </a:r>
                  <a:endParaRPr kumimoji="1" lang="en-US" altLang="ja-JP" sz="1000" baseline="-2500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205" name="テキスト ボックス 9">
                  <a:extLst>
                    <a:ext uri="{FF2B5EF4-FFF2-40B4-BE49-F238E27FC236}">
                      <a16:creationId xmlns:a16="http://schemas.microsoft.com/office/drawing/2014/main" id="{9FA56317-1697-4CF7-8D50-69232B75C59B}"/>
                    </a:ext>
                  </a:extLst>
                </p:cNvPr>
                <p:cNvSpPr txBox="1"/>
                <p:nvPr/>
              </p:nvSpPr>
              <p:spPr>
                <a:xfrm>
                  <a:off x="11823580" y="584625"/>
                  <a:ext cx="717230" cy="386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defTabSz="914400"/>
                  <a:r>
                    <a:rPr kumimoji="1" lang="en-US" altLang="ja-JP" sz="1050" dirty="0" err="1">
                      <a:solidFill>
                        <a:srgbClr val="990000">
                          <a:lumMod val="60000"/>
                          <a:lumOff val="40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I</a:t>
                  </a:r>
                  <a:r>
                    <a:rPr kumimoji="1" lang="en-US" altLang="ja-JP" sz="1050" baseline="-25000" dirty="0" err="1">
                      <a:solidFill>
                        <a:srgbClr val="990000">
                          <a:lumMod val="60000"/>
                          <a:lumOff val="40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ref</a:t>
                  </a:r>
                  <a:endParaRPr kumimoji="1" lang="en-US" altLang="ja-JP" sz="1000" baseline="-25000" dirty="0">
                    <a:solidFill>
                      <a:srgbClr val="990000">
                        <a:lumMod val="60000"/>
                        <a:lumOff val="40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206" name="テキスト ボックス 9">
                  <a:extLst>
                    <a:ext uri="{FF2B5EF4-FFF2-40B4-BE49-F238E27FC236}">
                      <a16:creationId xmlns:a16="http://schemas.microsoft.com/office/drawing/2014/main" id="{BF197154-3C43-48B1-93C7-A45E2C121B4D}"/>
                    </a:ext>
                  </a:extLst>
                </p:cNvPr>
                <p:cNvSpPr txBox="1"/>
                <p:nvPr/>
              </p:nvSpPr>
              <p:spPr>
                <a:xfrm rot="16200000">
                  <a:off x="8433559" y="-826182"/>
                  <a:ext cx="1636369" cy="3407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914400"/>
                  <a:r>
                    <a:rPr kumimoji="1" lang="en-US" altLang="ja-JP" sz="900" dirty="0" err="1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Lum</a:t>
                  </a:r>
                  <a:r>
                    <a:rPr kumimoji="1" lang="en-US" altLang="ja-JP" sz="900" dirty="0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/</a:t>
                  </a:r>
                  <a:r>
                    <a:rPr kumimoji="1" lang="en-US" altLang="ja-JP" sz="900" dirty="0" err="1">
                      <a:solidFill>
                        <a:srgbClr val="000000">
                          <a:lumMod val="65000"/>
                          <a:lumOff val="35000"/>
                        </a:srgbClr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Lum_init</a:t>
                  </a:r>
                  <a:endParaRPr kumimoji="1" lang="en-US" altLang="ja-JP" sz="800" dirty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47" name="テキスト ボックス 9">
                  <a:extLst>
                    <a:ext uri="{FF2B5EF4-FFF2-40B4-BE49-F238E27FC236}">
                      <a16:creationId xmlns:a16="http://schemas.microsoft.com/office/drawing/2014/main" id="{FCF43D9D-67D2-4438-95C7-45867BC653BC}"/>
                    </a:ext>
                  </a:extLst>
                </p:cNvPr>
                <p:cNvSpPr txBox="1"/>
                <p:nvPr/>
              </p:nvSpPr>
              <p:spPr>
                <a:xfrm>
                  <a:off x="7161594" y="679343"/>
                  <a:ext cx="176942" cy="327102"/>
                </a:xfrm>
                <a:prstGeom prst="rect">
                  <a:avLst/>
                </a:prstGeom>
                <a:solidFill>
                  <a:srgbClr val="0000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18288" tIns="18288" rIns="18288" bIns="18288" rtlCol="0">
                  <a:spAutoFit/>
                </a:bodyPr>
                <a:lstStyle/>
                <a:p>
                  <a:pPr algn="ctr" defTabSz="914400"/>
                  <a:r>
                    <a:rPr kumimoji="1" lang="en-US" altLang="ja-JP" sz="1200" dirty="0">
                      <a:solidFill>
                        <a:srgbClr val="FFFFFF"/>
                      </a:solidFill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1</a:t>
                  </a:r>
                  <a:endParaRPr kumimoji="1" lang="en-US" altLang="ja-JP" sz="1100" dirty="0">
                    <a:solidFill>
                      <a:srgbClr val="FFFFFF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  <p:sp>
              <p:nvSpPr>
                <p:cNvPr id="148" name="テキスト ボックス 9">
                  <a:extLst>
                    <a:ext uri="{FF2B5EF4-FFF2-40B4-BE49-F238E27FC236}">
                      <a16:creationId xmlns:a16="http://schemas.microsoft.com/office/drawing/2014/main" id="{4AB340C2-739F-4F2D-8BD3-7D267CDD8552}"/>
                    </a:ext>
                  </a:extLst>
                </p:cNvPr>
                <p:cNvSpPr txBox="1"/>
                <p:nvPr/>
              </p:nvSpPr>
              <p:spPr>
                <a:xfrm>
                  <a:off x="8674996" y="679343"/>
                  <a:ext cx="176942" cy="327102"/>
                </a:xfrm>
                <a:prstGeom prst="rect">
                  <a:avLst/>
                </a:prstGeom>
                <a:solidFill>
                  <a:srgbClr val="990000">
                    <a:lumMod val="60000"/>
                    <a:lumOff val="4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lIns="18288" tIns="18288" rIns="18288" bIns="18288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ja-JP" sz="12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Meiryo UI" panose="020B0604030504040204" pitchFamily="50" charset="-128"/>
                      <a:ea typeface="Meiryo UI" panose="020B0604030504040204" pitchFamily="50" charset="-128"/>
                      <a:cs typeface="Meiryo UI" panose="020B0604030504040204" pitchFamily="50" charset="-128"/>
                    </a:rPr>
                    <a:t>2</a:t>
                  </a:r>
                  <a:endParaRPr kumimoji="1" lang="en-US" altLang="ja-JP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Meiryo UI" panose="020B0604030504040204" pitchFamily="50" charset="-128"/>
                    <a:ea typeface="Meiryo UI" panose="020B0604030504040204" pitchFamily="50" charset="-128"/>
                    <a:cs typeface="Meiryo UI" panose="020B0604030504040204" pitchFamily="50" charset="-128"/>
                  </a:endParaRP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2D3328B3-E987-41DA-998B-2B8BDF5130F7}"/>
                  </a:ext>
                </a:extLst>
              </p:cNvPr>
              <p:cNvSpPr/>
              <p:nvPr/>
            </p:nvSpPr>
            <p:spPr>
              <a:xfrm>
                <a:off x="4796809" y="1764216"/>
                <a:ext cx="389595" cy="7329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BE29FDFD-5E3C-4D26-92D1-DCA9DF8F5412}"/>
                    </a:ext>
                  </a:extLst>
                </p:cNvPr>
                <p:cNvSpPr txBox="1"/>
                <p:nvPr/>
              </p:nvSpPr>
              <p:spPr>
                <a:xfrm>
                  <a:off x="310259" y="2213773"/>
                  <a:ext cx="2620781" cy="4160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defTabSz="1219272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ja-JP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40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𝑢𝑚</m:t>
                            </m:r>
                          </m:num>
                          <m:den>
                            <m:r>
                              <a:rPr lang="en-US" altLang="ja-JP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altLang="ja-JP" sz="140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𝑢𝑚</m:t>
                            </m:r>
                            <m:r>
                              <a:rPr lang="en-US" altLang="ja-JP" sz="140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altLang="ja-JP" sz="1400" i="1" baseline="-250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𝑖𝑛𝑖</m:t>
                            </m:r>
                          </m:den>
                        </m:f>
                        <m:r>
                          <a:rPr lang="en-US" altLang="ja-JP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r>
                          <a:rPr lang="en-US" sz="1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400" i="1" baseline="30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sz="1400" i="1" baseline="-25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 baseline="-25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baseline="-2500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𝐼𝑠𝑡𝑟𝑒𝑠𝑠</m:t>
                        </m:r>
                        <m:r>
                          <a:rPr lang="en-US" sz="140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sz="1400" i="1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1400" i="1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  <m:r>
                          <a:rPr lang="en-US" sz="1400" i="1" baseline="30000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baseline="-25000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 baseline="-25000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baseline="-25000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𝐼𝑠𝑡𝑟𝑒𝑠𝑠</m:t>
                        </m:r>
                        <m:r>
                          <a:rPr lang="en-US" sz="1400" i="1" baseline="-25000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1400" i="1" baseline="-25000" dirty="0" smtClean="0">
                            <a:solidFill>
                              <a:srgbClr val="990000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𝐼𝑝𝑖𝑥</m:t>
                        </m:r>
                      </m:oMath>
                    </m:oMathPara>
                  </a14:m>
                  <a:endParaRPr lang="en-US" sz="1400" baseline="-25000" dirty="0">
                    <a:solidFill>
                      <a:srgbClr val="000000"/>
                    </a:solidFill>
                    <a:latin typeface="FrutigerNext LT Regular"/>
                    <a:ea typeface="华文细黑"/>
                  </a:endParaRPr>
                </a:p>
              </p:txBody>
            </p:sp>
          </mc:Choice>
          <mc:Fallback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BE29FDFD-5E3C-4D26-92D1-DCA9DF8F5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259" y="2213773"/>
                  <a:ext cx="2620781" cy="416011"/>
                </a:xfrm>
                <a:prstGeom prst="rect">
                  <a:avLst/>
                </a:prstGeom>
                <a:blipFill>
                  <a:blip r:embed="rId4"/>
                  <a:stretch>
                    <a:fillRect l="-1395" r="-698" b="-191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DA5762E-26C2-3968-3B1F-84B649D04DB3}"/>
              </a:ext>
            </a:extLst>
          </p:cNvPr>
          <p:cNvSpPr txBox="1"/>
          <p:nvPr/>
        </p:nvSpPr>
        <p:spPr>
          <a:xfrm>
            <a:off x="332478" y="139727"/>
            <a:ext cx="670649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sz="2400" b="1" dirty="0">
                <a:solidFill>
                  <a:srgbClr val="0070C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Platform Concept for DBI &amp; BIP development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D59619-469F-4273-A297-BD4727F01B88}"/>
              </a:ext>
            </a:extLst>
          </p:cNvPr>
          <p:cNvSpPr/>
          <p:nvPr/>
        </p:nvSpPr>
        <p:spPr>
          <a:xfrm>
            <a:off x="249351" y="557052"/>
            <a:ext cx="9437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Planning to build a simulation platform for predicting panel degradation to support IP development.</a:t>
            </a:r>
          </a:p>
        </p:txBody>
      </p:sp>
      <p:sp>
        <p:nvSpPr>
          <p:cNvPr id="36" name="Flowchart: Summing Junction 35">
            <a:extLst>
              <a:ext uri="{FF2B5EF4-FFF2-40B4-BE49-F238E27FC236}">
                <a16:creationId xmlns:a16="http://schemas.microsoft.com/office/drawing/2014/main" id="{D1441F93-46DB-41BA-AF77-269C7F5AD967}"/>
              </a:ext>
            </a:extLst>
          </p:cNvPr>
          <p:cNvSpPr/>
          <p:nvPr/>
        </p:nvSpPr>
        <p:spPr>
          <a:xfrm>
            <a:off x="8717066" y="3521093"/>
            <a:ext cx="180975" cy="180975"/>
          </a:xfrm>
          <a:prstGeom prst="flowChartSummingJunction">
            <a:avLst/>
          </a:prstGeom>
          <a:solidFill>
            <a:srgbClr val="FFFFFF"/>
          </a:solidFill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8C10817-97FD-4FD5-BBAC-60B1557C28B7}"/>
              </a:ext>
            </a:extLst>
          </p:cNvPr>
          <p:cNvCxnSpPr>
            <a:cxnSpLocks/>
          </p:cNvCxnSpPr>
          <p:nvPr/>
        </p:nvCxnSpPr>
        <p:spPr>
          <a:xfrm>
            <a:off x="3795533" y="3612663"/>
            <a:ext cx="489541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A3463B-8A29-40A3-BC14-361C3D561253}"/>
              </a:ext>
            </a:extLst>
          </p:cNvPr>
          <p:cNvCxnSpPr>
            <a:cxnSpLocks/>
          </p:cNvCxnSpPr>
          <p:nvPr/>
        </p:nvCxnSpPr>
        <p:spPr>
          <a:xfrm>
            <a:off x="4563197" y="3612663"/>
            <a:ext cx="0" cy="24409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Or 16">
            <a:extLst>
              <a:ext uri="{FF2B5EF4-FFF2-40B4-BE49-F238E27FC236}">
                <a16:creationId xmlns:a16="http://schemas.microsoft.com/office/drawing/2014/main" id="{C306F2C0-7C3C-4104-B92B-D2FDA0845412}"/>
              </a:ext>
            </a:extLst>
          </p:cNvPr>
          <p:cNvSpPr/>
          <p:nvPr/>
        </p:nvSpPr>
        <p:spPr>
          <a:xfrm>
            <a:off x="4876245" y="5060264"/>
            <a:ext cx="177611" cy="177611"/>
          </a:xfrm>
          <a:prstGeom prst="flowChartOr">
            <a:avLst/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68DB27E-935C-4E63-80BB-131C7A5B8D43}"/>
              </a:ext>
            </a:extLst>
          </p:cNvPr>
          <p:cNvCxnSpPr>
            <a:cxnSpLocks/>
          </p:cNvCxnSpPr>
          <p:nvPr/>
        </p:nvCxnSpPr>
        <p:spPr>
          <a:xfrm>
            <a:off x="4965051" y="4027105"/>
            <a:ext cx="0" cy="37218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E9C2824-279B-4E3D-B2E8-613D5C0608F6}"/>
              </a:ext>
            </a:extLst>
          </p:cNvPr>
          <p:cNvCxnSpPr>
            <a:cxnSpLocks/>
          </p:cNvCxnSpPr>
          <p:nvPr/>
        </p:nvCxnSpPr>
        <p:spPr>
          <a:xfrm>
            <a:off x="4969175" y="4597187"/>
            <a:ext cx="0" cy="44765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CC5856F-B11F-466D-8B0F-B5CE8AB2E996}"/>
              </a:ext>
            </a:extLst>
          </p:cNvPr>
          <p:cNvCxnSpPr>
            <a:cxnSpLocks/>
          </p:cNvCxnSpPr>
          <p:nvPr/>
        </p:nvCxnSpPr>
        <p:spPr>
          <a:xfrm flipH="1">
            <a:off x="5074479" y="5149069"/>
            <a:ext cx="160086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896010E-973B-4359-B040-C314B11A00C3}"/>
              </a:ext>
            </a:extLst>
          </p:cNvPr>
          <p:cNvCxnSpPr>
            <a:cxnSpLocks/>
          </p:cNvCxnSpPr>
          <p:nvPr/>
        </p:nvCxnSpPr>
        <p:spPr>
          <a:xfrm>
            <a:off x="5523894" y="5149069"/>
            <a:ext cx="0" cy="59586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4AD0182-A0F9-47BD-B582-54D9F6C18B6C}"/>
              </a:ext>
            </a:extLst>
          </p:cNvPr>
          <p:cNvSpPr/>
          <p:nvPr/>
        </p:nvSpPr>
        <p:spPr>
          <a:xfrm>
            <a:off x="4404235" y="4430815"/>
            <a:ext cx="1123379" cy="332744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r>
              <a:rPr lang="en-US" sz="1200" dirty="0"/>
              <a:t>conv_lum2str</a:t>
            </a:r>
            <a:endParaRPr lang="en-US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A963D34-3C64-4E6E-ADDA-A1071BB4A32D}"/>
              </a:ext>
            </a:extLst>
          </p:cNvPr>
          <p:cNvCxnSpPr>
            <a:cxnSpLocks/>
          </p:cNvCxnSpPr>
          <p:nvPr/>
        </p:nvCxnSpPr>
        <p:spPr>
          <a:xfrm>
            <a:off x="4561306" y="4027105"/>
            <a:ext cx="333513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20B3095-9860-42C4-B288-29A067556FF5}"/>
              </a:ext>
            </a:extLst>
          </p:cNvPr>
          <p:cNvCxnSpPr>
            <a:cxnSpLocks/>
          </p:cNvCxnSpPr>
          <p:nvPr/>
        </p:nvCxnSpPr>
        <p:spPr>
          <a:xfrm>
            <a:off x="7896445" y="4027105"/>
            <a:ext cx="0" cy="37218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C24C546-CBF9-43A5-A8E0-4C5DCFEAAF42}"/>
              </a:ext>
            </a:extLst>
          </p:cNvPr>
          <p:cNvCxnSpPr>
            <a:cxnSpLocks/>
          </p:cNvCxnSpPr>
          <p:nvPr/>
        </p:nvCxnSpPr>
        <p:spPr>
          <a:xfrm>
            <a:off x="7630932" y="5157181"/>
            <a:ext cx="118302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8F5C778-5040-41D6-BE0D-13A93A949DAE}"/>
              </a:ext>
            </a:extLst>
          </p:cNvPr>
          <p:cNvSpPr/>
          <p:nvPr/>
        </p:nvSpPr>
        <p:spPr>
          <a:xfrm>
            <a:off x="6675341" y="4975424"/>
            <a:ext cx="955591" cy="332744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deg1 Calc.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65C2FFE-9CCD-4618-9C34-17D5283E54E3}"/>
              </a:ext>
            </a:extLst>
          </p:cNvPr>
          <p:cNvCxnSpPr>
            <a:cxnSpLocks/>
          </p:cNvCxnSpPr>
          <p:nvPr/>
        </p:nvCxnSpPr>
        <p:spPr>
          <a:xfrm flipV="1">
            <a:off x="7896445" y="4763559"/>
            <a:ext cx="0" cy="39362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DF5A429-7C7C-40AF-9417-1AE1A1B408C1}"/>
              </a:ext>
            </a:extLst>
          </p:cNvPr>
          <p:cNvCxnSpPr>
            <a:cxnSpLocks/>
          </p:cNvCxnSpPr>
          <p:nvPr/>
        </p:nvCxnSpPr>
        <p:spPr>
          <a:xfrm>
            <a:off x="7759632" y="4597187"/>
            <a:ext cx="931315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644D902-7917-46F8-8EC6-1985F2B9A261}"/>
              </a:ext>
            </a:extLst>
          </p:cNvPr>
          <p:cNvCxnSpPr>
            <a:cxnSpLocks/>
          </p:cNvCxnSpPr>
          <p:nvPr/>
        </p:nvCxnSpPr>
        <p:spPr>
          <a:xfrm flipV="1">
            <a:off x="8813958" y="4725517"/>
            <a:ext cx="0" cy="42786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Flowchart: Summing Junction 88">
            <a:extLst>
              <a:ext uri="{FF2B5EF4-FFF2-40B4-BE49-F238E27FC236}">
                <a16:creationId xmlns:a16="http://schemas.microsoft.com/office/drawing/2014/main" id="{CFCCAD7E-1503-4AD7-9CC9-83A4702F32C9}"/>
              </a:ext>
            </a:extLst>
          </p:cNvPr>
          <p:cNvSpPr/>
          <p:nvPr/>
        </p:nvSpPr>
        <p:spPr>
          <a:xfrm>
            <a:off x="8715223" y="4518284"/>
            <a:ext cx="180975" cy="180975"/>
          </a:xfrm>
          <a:prstGeom prst="flowChartSummingJunction">
            <a:avLst/>
          </a:prstGeom>
          <a:solidFill>
            <a:srgbClr val="FFFFFF"/>
          </a:solidFill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790357-E2BA-4A92-AB2F-ADBCE7831E71}"/>
              </a:ext>
            </a:extLst>
          </p:cNvPr>
          <p:cNvSpPr/>
          <p:nvPr/>
        </p:nvSpPr>
        <p:spPr>
          <a:xfrm>
            <a:off x="7418649" y="4414868"/>
            <a:ext cx="955591" cy="3327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chemeClr val="tx2"/>
                </a:solidFill>
              </a:rPr>
              <a:t>deg2 Calc.</a:t>
            </a:r>
            <a:endParaRPr lang="en-US" b="1" dirty="0">
              <a:solidFill>
                <a:schemeClr val="tx2"/>
              </a:solidFill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7B12DCB-F157-42B2-8522-E00273757867}"/>
              </a:ext>
            </a:extLst>
          </p:cNvPr>
          <p:cNvCxnSpPr>
            <a:cxnSpLocks/>
          </p:cNvCxnSpPr>
          <p:nvPr/>
        </p:nvCxnSpPr>
        <p:spPr>
          <a:xfrm flipV="1">
            <a:off x="8805710" y="4122511"/>
            <a:ext cx="0" cy="37692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B5508FD-C290-4DBB-B9C7-A25FD6AB64C2}"/>
              </a:ext>
            </a:extLst>
          </p:cNvPr>
          <p:cNvCxnSpPr>
            <a:cxnSpLocks/>
          </p:cNvCxnSpPr>
          <p:nvPr/>
        </p:nvCxnSpPr>
        <p:spPr>
          <a:xfrm flipV="1">
            <a:off x="8804531" y="3725636"/>
            <a:ext cx="0" cy="27268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B9154A9-C9D6-45C5-8311-97A4D19B2900}"/>
              </a:ext>
            </a:extLst>
          </p:cNvPr>
          <p:cNvSpPr/>
          <p:nvPr/>
        </p:nvSpPr>
        <p:spPr>
          <a:xfrm>
            <a:off x="8624958" y="3858458"/>
            <a:ext cx="375824" cy="26359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ja-JP" sz="1200" dirty="0"/>
              <a:t>γ</a:t>
            </a:r>
            <a:r>
              <a:rPr lang="en-US" altLang="ja-JP" sz="1200" baseline="30000" dirty="0"/>
              <a:t>-1</a:t>
            </a:r>
            <a:endParaRPr lang="en-US" sz="1600" baseline="30000" dirty="0"/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314C0BD1-6435-4287-A73E-0B71AD336047}"/>
              </a:ext>
            </a:extLst>
          </p:cNvPr>
          <p:cNvCxnSpPr>
            <a:cxnSpLocks/>
          </p:cNvCxnSpPr>
          <p:nvPr/>
        </p:nvCxnSpPr>
        <p:spPr>
          <a:xfrm>
            <a:off x="8932726" y="3612663"/>
            <a:ext cx="912857" cy="0"/>
          </a:xfrm>
          <a:prstGeom prst="straightConnector1">
            <a:avLst/>
          </a:prstGeom>
          <a:ln w="25400">
            <a:solidFill>
              <a:schemeClr val="accent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8B21950-C8A4-434E-9A42-D98C076A32FB}"/>
              </a:ext>
            </a:extLst>
          </p:cNvPr>
          <p:cNvSpPr/>
          <p:nvPr/>
        </p:nvSpPr>
        <p:spPr>
          <a:xfrm>
            <a:off x="3781363" y="6054335"/>
            <a:ext cx="315656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Update total stress</a:t>
            </a:r>
            <a:r>
              <a:rPr lang="en-US" sz="1050" dirty="0"/>
              <a:t> (for each pix. or blocks)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520FB89-A2B9-4584-AFAC-8C74B3F3BE28}"/>
              </a:ext>
            </a:extLst>
          </p:cNvPr>
          <p:cNvSpPr/>
          <p:nvPr/>
        </p:nvSpPr>
        <p:spPr>
          <a:xfrm>
            <a:off x="6139860" y="5464090"/>
            <a:ext cx="353443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Calculate degradation</a:t>
            </a:r>
            <a:r>
              <a:rPr lang="en-US" sz="1050" dirty="0"/>
              <a:t> (for each pix. or blocks) 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9340162-591A-471F-A5AD-3AE759709A91}"/>
              </a:ext>
            </a:extLst>
          </p:cNvPr>
          <p:cNvSpPr/>
          <p:nvPr/>
        </p:nvSpPr>
        <p:spPr>
          <a:xfrm>
            <a:off x="4376413" y="4775479"/>
            <a:ext cx="69806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r>
              <a:rPr lang="en-US" sz="1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stress</a:t>
            </a:r>
            <a:endParaRPr lang="en-US" sz="12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FBD6AA9-A948-468A-81C3-DCCEB1536D77}"/>
              </a:ext>
            </a:extLst>
          </p:cNvPr>
          <p:cNvSpPr/>
          <p:nvPr/>
        </p:nvSpPr>
        <p:spPr>
          <a:xfrm>
            <a:off x="5535895" y="4924095"/>
            <a:ext cx="8268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stress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870138DC-B6F3-4720-AD33-A54A361D1377}"/>
              </a:ext>
            </a:extLst>
          </p:cNvPr>
          <p:cNvSpPr/>
          <p:nvPr/>
        </p:nvSpPr>
        <p:spPr>
          <a:xfrm>
            <a:off x="4796810" y="3754864"/>
            <a:ext cx="8268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Lum.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E351B-66AB-403E-A346-5F92B2FAC6B8}"/>
              </a:ext>
            </a:extLst>
          </p:cNvPr>
          <p:cNvSpPr/>
          <p:nvPr/>
        </p:nvSpPr>
        <p:spPr>
          <a:xfrm>
            <a:off x="4207699" y="4213195"/>
            <a:ext cx="2146300" cy="1822797"/>
          </a:xfrm>
          <a:prstGeom prst="rect">
            <a:avLst/>
          </a:prstGeom>
          <a:ln w="12700">
            <a:solidFill>
              <a:schemeClr val="tx2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1B9AD06-2A81-4CE3-B436-F050F06800CF}"/>
              </a:ext>
            </a:extLst>
          </p:cNvPr>
          <p:cNvSpPr/>
          <p:nvPr/>
        </p:nvSpPr>
        <p:spPr>
          <a:xfrm>
            <a:off x="6503215" y="4252686"/>
            <a:ext cx="2486300" cy="1210950"/>
          </a:xfrm>
          <a:prstGeom prst="rect">
            <a:avLst/>
          </a:prstGeom>
          <a:ln w="12700">
            <a:solidFill>
              <a:schemeClr val="tx2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F7EC95E8-A092-480F-A4E9-C0803C23A984}"/>
              </a:ext>
            </a:extLst>
          </p:cNvPr>
          <p:cNvSpPr/>
          <p:nvPr/>
        </p:nvSpPr>
        <p:spPr>
          <a:xfrm>
            <a:off x="4259463" y="5543925"/>
            <a:ext cx="955592" cy="30777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r>
              <a:rPr lang="en-US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Total stress</a:t>
            </a:r>
          </a:p>
          <a:p>
            <a:r>
              <a:rPr lang="ja-JP" altLang="en-US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</a:t>
            </a:r>
            <a:r>
              <a:rPr lang="en-US" altLang="ja-JP" sz="1000" i="1" dirty="0">
                <a:latin typeface="Cambria Math" panose="02040503050406030204" pitchFamily="18" charset="0"/>
                <a:ea typeface="Cambria Math" panose="02040503050406030204" pitchFamily="18" charset="0"/>
              </a:rPr>
              <a:t>+= </a:t>
            </a:r>
            <a:r>
              <a:rPr lang="en-US" altLang="ja-JP" sz="1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Δ</a:t>
            </a:r>
            <a:r>
              <a:rPr lang="en-US" sz="1000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stress</a:t>
            </a:r>
            <a:endParaRPr lang="en-US" sz="1000" i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00BD3FC-D926-4506-94F6-54C58ADA564B}"/>
              </a:ext>
            </a:extLst>
          </p:cNvPr>
          <p:cNvCxnSpPr>
            <a:cxnSpLocks/>
          </p:cNvCxnSpPr>
          <p:nvPr/>
        </p:nvCxnSpPr>
        <p:spPr>
          <a:xfrm>
            <a:off x="4969175" y="5673628"/>
            <a:ext cx="218775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94CA28-EEDF-4ABD-A20C-7C040E02BCBE}"/>
              </a:ext>
            </a:extLst>
          </p:cNvPr>
          <p:cNvCxnSpPr>
            <a:cxnSpLocks/>
          </p:cNvCxnSpPr>
          <p:nvPr/>
        </p:nvCxnSpPr>
        <p:spPr>
          <a:xfrm>
            <a:off x="4969175" y="5308168"/>
            <a:ext cx="0" cy="36546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1117ECB0-FF6F-465F-950B-09056D35835E}"/>
              </a:ext>
            </a:extLst>
          </p:cNvPr>
          <p:cNvSpPr/>
          <p:nvPr/>
        </p:nvSpPr>
        <p:spPr>
          <a:xfrm>
            <a:off x="1820837" y="3840401"/>
            <a:ext cx="3353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or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047-4E9E-4A04-8C1F-3B616924367E}"/>
              </a:ext>
            </a:extLst>
          </p:cNvPr>
          <p:cNvSpPr/>
          <p:nvPr/>
        </p:nvSpPr>
        <p:spPr>
          <a:xfrm>
            <a:off x="3573251" y="3442789"/>
            <a:ext cx="5913413" cy="2956198"/>
          </a:xfrm>
          <a:prstGeom prst="rect">
            <a:avLst/>
          </a:prstGeom>
          <a:ln w="25400">
            <a:solidFill>
              <a:schemeClr val="tx2">
                <a:lumMod val="5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C51710D-A3A0-4EBF-AEE1-2225A771FA5B}"/>
              </a:ext>
            </a:extLst>
          </p:cNvPr>
          <p:cNvCxnSpPr>
            <a:cxnSpLocks/>
          </p:cNvCxnSpPr>
          <p:nvPr/>
        </p:nvCxnSpPr>
        <p:spPr>
          <a:xfrm>
            <a:off x="2411809" y="5889378"/>
            <a:ext cx="1148742" cy="0"/>
          </a:xfrm>
          <a:prstGeom prst="straightConnector1">
            <a:avLst/>
          </a:prstGeom>
          <a:ln w="25400">
            <a:solidFill>
              <a:srgbClr val="0070C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240089C-03FA-47EC-8B8B-51D448E28204}"/>
              </a:ext>
            </a:extLst>
          </p:cNvPr>
          <p:cNvSpPr txBox="1"/>
          <p:nvPr/>
        </p:nvSpPr>
        <p:spPr>
          <a:xfrm>
            <a:off x="249351" y="5745708"/>
            <a:ext cx="2162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rgbClr val="0070C0"/>
                </a:solidFill>
              </a:rPr>
              <a:t>BC setting conditions</a:t>
            </a:r>
            <a:endParaRPr kumimoji="1" lang="ja-JP" altLang="en-US" b="1" dirty="0">
              <a:solidFill>
                <a:srgbClr val="0070C0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CFE20F1-D304-40CA-8A93-3B05E3C8115B}"/>
              </a:ext>
            </a:extLst>
          </p:cNvPr>
          <p:cNvGrpSpPr/>
          <p:nvPr/>
        </p:nvGrpSpPr>
        <p:grpSpPr>
          <a:xfrm>
            <a:off x="1260371" y="6046468"/>
            <a:ext cx="1413565" cy="246221"/>
            <a:chOff x="8440202" y="658960"/>
            <a:chExt cx="517357" cy="246221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6637DE10-F69D-4788-879C-559027B42B7B}"/>
                </a:ext>
              </a:extLst>
            </p:cNvPr>
            <p:cNvSpPr txBox="1"/>
            <p:nvPr/>
          </p:nvSpPr>
          <p:spPr>
            <a:xfrm>
              <a:off x="8440202" y="658960"/>
              <a:ext cx="51735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/>
                <a:t>DBV_NIT, Duty ratio</a:t>
              </a:r>
              <a:endParaRPr kumimoji="1" lang="ja-JP" altLang="en-US" sz="1100" dirty="0"/>
            </a:p>
          </p:txBody>
        </p:sp>
        <p:sp>
          <p:nvSpPr>
            <p:cNvPr id="82" name="Double Bracket 81">
              <a:extLst>
                <a:ext uri="{FF2B5EF4-FFF2-40B4-BE49-F238E27FC236}">
                  <a16:creationId xmlns:a16="http://schemas.microsoft.com/office/drawing/2014/main" id="{B8BCF9A4-9674-466B-B94D-6C48C0D82A40}"/>
                </a:ext>
              </a:extLst>
            </p:cNvPr>
            <p:cNvSpPr/>
            <p:nvPr/>
          </p:nvSpPr>
          <p:spPr>
            <a:xfrm>
              <a:off x="8463652" y="671939"/>
              <a:ext cx="445695" cy="215443"/>
            </a:xfrm>
            <a:prstGeom prst="bracketPair">
              <a:avLst>
                <a:gd name="adj" fmla="val 13293"/>
              </a:avLst>
            </a:prstGeom>
            <a:ln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B7AB1FA-6B36-4136-88EC-84D4BCE74296}"/>
              </a:ext>
            </a:extLst>
          </p:cNvPr>
          <p:cNvCxnSpPr>
            <a:cxnSpLocks/>
          </p:cNvCxnSpPr>
          <p:nvPr/>
        </p:nvCxnSpPr>
        <p:spPr>
          <a:xfrm>
            <a:off x="2967933" y="5239951"/>
            <a:ext cx="576051" cy="0"/>
          </a:xfrm>
          <a:prstGeom prst="straightConnector1">
            <a:avLst/>
          </a:prstGeom>
          <a:ln w="25400">
            <a:solidFill>
              <a:srgbClr val="0070C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E7C8EB1-C11A-4561-900F-584315B22E3F}"/>
              </a:ext>
            </a:extLst>
          </p:cNvPr>
          <p:cNvSpPr txBox="1"/>
          <p:nvPr/>
        </p:nvSpPr>
        <p:spPr>
          <a:xfrm>
            <a:off x="249351" y="4568389"/>
            <a:ext cx="1790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rgbClr val="0070C0"/>
                </a:solidFill>
              </a:rPr>
              <a:t>Heat map (Temp.)</a:t>
            </a:r>
            <a:endParaRPr kumimoji="1" lang="ja-JP" altLang="en-US" b="1" dirty="0">
              <a:solidFill>
                <a:srgbClr val="0070C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3E219BB-6924-43D2-8225-4285772AA624}"/>
              </a:ext>
            </a:extLst>
          </p:cNvPr>
          <p:cNvSpPr txBox="1"/>
          <p:nvPr/>
        </p:nvSpPr>
        <p:spPr>
          <a:xfrm>
            <a:off x="9615903" y="3721731"/>
            <a:ext cx="2580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Degraded images</a:t>
            </a:r>
          </a:p>
          <a:p>
            <a:r>
              <a:rPr kumimoji="1" lang="en-US" altLang="ja-JP" sz="1200" dirty="0"/>
              <a:t>(generated from input static image)</a:t>
            </a:r>
            <a:endParaRPr kumimoji="1" lang="ja-JP" altLang="en-US" sz="16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766B545-AB29-4080-B4A9-39D3CF2EA5A5}"/>
              </a:ext>
            </a:extLst>
          </p:cNvPr>
          <p:cNvSpPr txBox="1"/>
          <p:nvPr/>
        </p:nvSpPr>
        <p:spPr>
          <a:xfrm>
            <a:off x="249351" y="3015904"/>
            <a:ext cx="1237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rgbClr val="0070C0"/>
                </a:solidFill>
              </a:rPr>
              <a:t>Input Image</a:t>
            </a:r>
            <a:endParaRPr kumimoji="1" lang="ja-JP" altLang="en-US" b="1" dirty="0">
              <a:solidFill>
                <a:srgbClr val="0070C0"/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CA5AFB8-0343-4696-AF18-2F37EA630F2F}"/>
              </a:ext>
            </a:extLst>
          </p:cNvPr>
          <p:cNvSpPr txBox="1"/>
          <p:nvPr/>
        </p:nvSpPr>
        <p:spPr>
          <a:xfrm>
            <a:off x="1763850" y="3372119"/>
            <a:ext cx="156728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ja-JP" sz="1100" dirty="0"/>
              <a:t>Test images for PQ eval.</a:t>
            </a:r>
            <a:endParaRPr kumimoji="1" lang="ja-JP" altLang="en-US" sz="1400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964C9E4-DC57-466F-9101-AED14287E640}"/>
              </a:ext>
            </a:extLst>
          </p:cNvPr>
          <p:cNvSpPr/>
          <p:nvPr/>
        </p:nvSpPr>
        <p:spPr>
          <a:xfrm>
            <a:off x="7310616" y="6053108"/>
            <a:ext cx="2179915" cy="3385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rgbClr val="0066FF"/>
                </a:solidFill>
              </a:rPr>
              <a:t>Burn-in simulator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7674593-6765-4A4B-B77E-FA8221DA28B8}"/>
              </a:ext>
            </a:extLst>
          </p:cNvPr>
          <p:cNvSpPr/>
          <p:nvPr/>
        </p:nvSpPr>
        <p:spPr>
          <a:xfrm>
            <a:off x="4331788" y="4200766"/>
            <a:ext cx="199874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ja-JP" altLang="en-US" sz="1100" i="1" dirty="0">
                <a:solidFill>
                  <a:schemeClr val="accent1"/>
                </a:solidFill>
              </a:rPr>
              <a:t>　</a:t>
            </a:r>
            <a:r>
              <a:rPr lang="en-US" altLang="ja-JP" sz="1100" i="1" dirty="0">
                <a:solidFill>
                  <a:schemeClr val="accent1"/>
                </a:solidFill>
              </a:rPr>
              <a:t>temperature &amp; duty dependent</a:t>
            </a:r>
            <a:endParaRPr lang="en-US" sz="1100" i="1" dirty="0">
              <a:solidFill>
                <a:schemeClr val="accent1"/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F910E9F-7C71-4EA8-8D34-3DB6AC2334AA}"/>
              </a:ext>
            </a:extLst>
          </p:cNvPr>
          <p:cNvSpPr txBox="1"/>
          <p:nvPr/>
        </p:nvSpPr>
        <p:spPr>
          <a:xfrm>
            <a:off x="600636" y="4256226"/>
            <a:ext cx="12260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Movie x N cycle</a:t>
            </a:r>
            <a:endParaRPr kumimoji="1" lang="ja-JP" altLang="en-US" sz="11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A7BE218-6328-4004-B822-D8731C647DBB}"/>
              </a:ext>
            </a:extLst>
          </p:cNvPr>
          <p:cNvGrpSpPr/>
          <p:nvPr/>
        </p:nvGrpSpPr>
        <p:grpSpPr>
          <a:xfrm>
            <a:off x="650968" y="3643449"/>
            <a:ext cx="1010628" cy="598568"/>
            <a:chOff x="524073" y="4786103"/>
            <a:chExt cx="791658" cy="516314"/>
          </a:xfrm>
        </p:grpSpPr>
        <p:sp>
          <p:nvSpPr>
            <p:cNvPr id="129" name="Flowchart: Data 128">
              <a:extLst>
                <a:ext uri="{FF2B5EF4-FFF2-40B4-BE49-F238E27FC236}">
                  <a16:creationId xmlns:a16="http://schemas.microsoft.com/office/drawing/2014/main" id="{FE73F487-A6EB-4FEB-B595-A5A7362DCFDC}"/>
                </a:ext>
              </a:extLst>
            </p:cNvPr>
            <p:cNvSpPr/>
            <p:nvPr/>
          </p:nvSpPr>
          <p:spPr>
            <a:xfrm rot="5400000" flipH="1" flipV="1">
              <a:off x="966126" y="4952811"/>
              <a:ext cx="516314" cy="182897"/>
            </a:xfrm>
            <a:prstGeom prst="flowChartInputOutput">
              <a:avLst/>
            </a:prstGeom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Flowchart: Data 127">
              <a:extLst>
                <a:ext uri="{FF2B5EF4-FFF2-40B4-BE49-F238E27FC236}">
                  <a16:creationId xmlns:a16="http://schemas.microsoft.com/office/drawing/2014/main" id="{616CCDE0-870B-4769-8D36-A47F8D691B2F}"/>
                </a:ext>
              </a:extLst>
            </p:cNvPr>
            <p:cNvSpPr/>
            <p:nvPr/>
          </p:nvSpPr>
          <p:spPr>
            <a:xfrm rot="5400000" flipH="1" flipV="1">
              <a:off x="671431" y="4952811"/>
              <a:ext cx="516314" cy="182897"/>
            </a:xfrm>
            <a:prstGeom prst="flowChartInputOutpu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Flowchart: Data 124">
              <a:extLst>
                <a:ext uri="{FF2B5EF4-FFF2-40B4-BE49-F238E27FC236}">
                  <a16:creationId xmlns:a16="http://schemas.microsoft.com/office/drawing/2014/main" id="{071F8559-57BC-432A-9354-3AC294046088}"/>
                </a:ext>
              </a:extLst>
            </p:cNvPr>
            <p:cNvSpPr/>
            <p:nvPr/>
          </p:nvSpPr>
          <p:spPr>
            <a:xfrm rot="5400000" flipH="1" flipV="1">
              <a:off x="560886" y="4952811"/>
              <a:ext cx="516314" cy="182897"/>
            </a:xfrm>
            <a:prstGeom prst="flowChartInputOutpu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Flowchart: Data 123">
              <a:extLst>
                <a:ext uri="{FF2B5EF4-FFF2-40B4-BE49-F238E27FC236}">
                  <a16:creationId xmlns:a16="http://schemas.microsoft.com/office/drawing/2014/main" id="{A3BDE15B-0E8C-40C0-BDC5-E03D8A8DE481}"/>
                </a:ext>
              </a:extLst>
            </p:cNvPr>
            <p:cNvSpPr/>
            <p:nvPr/>
          </p:nvSpPr>
          <p:spPr>
            <a:xfrm rot="5400000" flipH="1" flipV="1">
              <a:off x="450341" y="4952811"/>
              <a:ext cx="516314" cy="182897"/>
            </a:xfrm>
            <a:prstGeom prst="flowChartInputOutpu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lowchart: Data 6">
              <a:extLst>
                <a:ext uri="{FF2B5EF4-FFF2-40B4-BE49-F238E27FC236}">
                  <a16:creationId xmlns:a16="http://schemas.microsoft.com/office/drawing/2014/main" id="{28066AD4-FCBD-4572-AA20-8795EADB03F9}"/>
                </a:ext>
              </a:extLst>
            </p:cNvPr>
            <p:cNvSpPr/>
            <p:nvPr/>
          </p:nvSpPr>
          <p:spPr>
            <a:xfrm rot="5400000" flipH="1" flipV="1">
              <a:off x="357365" y="4952811"/>
              <a:ext cx="516314" cy="182897"/>
            </a:xfrm>
            <a:prstGeom prst="flowChartInputOutpu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F7E2A9C-70DF-4D54-972A-260A57790B05}"/>
                </a:ext>
              </a:extLst>
            </p:cNvPr>
            <p:cNvSpPr txBox="1"/>
            <p:nvPr/>
          </p:nvSpPr>
          <p:spPr>
            <a:xfrm>
              <a:off x="925088" y="4862938"/>
              <a:ext cx="37516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600" dirty="0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3F1CC091-784A-4079-A267-CED74BC4ED8E}"/>
              </a:ext>
            </a:extLst>
          </p:cNvPr>
          <p:cNvGrpSpPr/>
          <p:nvPr/>
        </p:nvGrpSpPr>
        <p:grpSpPr>
          <a:xfrm>
            <a:off x="650968" y="4946336"/>
            <a:ext cx="1010628" cy="598568"/>
            <a:chOff x="524073" y="4786103"/>
            <a:chExt cx="791658" cy="516314"/>
          </a:xfrm>
        </p:grpSpPr>
        <p:sp>
          <p:nvSpPr>
            <p:cNvPr id="133" name="Flowchart: Data 132">
              <a:extLst>
                <a:ext uri="{FF2B5EF4-FFF2-40B4-BE49-F238E27FC236}">
                  <a16:creationId xmlns:a16="http://schemas.microsoft.com/office/drawing/2014/main" id="{996FB23A-FA9E-49F0-A6C2-0C197BE8DCC7}"/>
                </a:ext>
              </a:extLst>
            </p:cNvPr>
            <p:cNvSpPr/>
            <p:nvPr/>
          </p:nvSpPr>
          <p:spPr>
            <a:xfrm rot="5400000" flipH="1" flipV="1">
              <a:off x="966126" y="4952811"/>
              <a:ext cx="516314" cy="182897"/>
            </a:xfrm>
            <a:prstGeom prst="flowChartInputOutput">
              <a:avLst/>
            </a:prstGeom>
            <a:gradFill flip="none" rotWithShape="1">
              <a:gsLst>
                <a:gs pos="37000">
                  <a:srgbClr val="FFFFFF"/>
                </a:gs>
                <a:gs pos="71000">
                  <a:schemeClr val="tx2">
                    <a:lumMod val="5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Flowchart: Data 133">
              <a:extLst>
                <a:ext uri="{FF2B5EF4-FFF2-40B4-BE49-F238E27FC236}">
                  <a16:creationId xmlns:a16="http://schemas.microsoft.com/office/drawing/2014/main" id="{0E8C01FA-407E-400E-AE4E-DEE573F55288}"/>
                </a:ext>
              </a:extLst>
            </p:cNvPr>
            <p:cNvSpPr/>
            <p:nvPr/>
          </p:nvSpPr>
          <p:spPr>
            <a:xfrm rot="5400000" flipH="1" flipV="1">
              <a:off x="671431" y="4952811"/>
              <a:ext cx="516314" cy="182897"/>
            </a:xfrm>
            <a:prstGeom prst="flowChartInputOutput">
              <a:avLst/>
            </a:prstGeom>
            <a:gradFill flip="none" rotWithShape="1">
              <a:gsLst>
                <a:gs pos="37000">
                  <a:srgbClr val="FFFFFF"/>
                </a:gs>
                <a:gs pos="71000">
                  <a:schemeClr val="tx2">
                    <a:lumMod val="50000"/>
                  </a:schemeClr>
                </a:gs>
              </a:gsLst>
              <a:lin ang="3600000" scaled="0"/>
              <a:tileRect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Flowchart: Data 134">
              <a:extLst>
                <a:ext uri="{FF2B5EF4-FFF2-40B4-BE49-F238E27FC236}">
                  <a16:creationId xmlns:a16="http://schemas.microsoft.com/office/drawing/2014/main" id="{5CE1C78D-1C6D-4AF5-B2BF-EF05F2A88453}"/>
                </a:ext>
              </a:extLst>
            </p:cNvPr>
            <p:cNvSpPr/>
            <p:nvPr/>
          </p:nvSpPr>
          <p:spPr>
            <a:xfrm rot="5400000" flipH="1" flipV="1">
              <a:off x="560886" y="4952811"/>
              <a:ext cx="516314" cy="182897"/>
            </a:xfrm>
            <a:prstGeom prst="flowChartInputOutput">
              <a:avLst/>
            </a:prstGeom>
            <a:gradFill flip="none" rotWithShape="1">
              <a:gsLst>
                <a:gs pos="37000">
                  <a:srgbClr val="FFFFFF"/>
                </a:gs>
                <a:gs pos="82000">
                  <a:schemeClr val="tx1">
                    <a:lumMod val="50000"/>
                    <a:lumOff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Flowchart: Data 135">
              <a:extLst>
                <a:ext uri="{FF2B5EF4-FFF2-40B4-BE49-F238E27FC236}">
                  <a16:creationId xmlns:a16="http://schemas.microsoft.com/office/drawing/2014/main" id="{68F44B20-C097-41E8-BB17-1841F49A24C0}"/>
                </a:ext>
              </a:extLst>
            </p:cNvPr>
            <p:cNvSpPr/>
            <p:nvPr/>
          </p:nvSpPr>
          <p:spPr>
            <a:xfrm rot="5400000" flipH="1" flipV="1">
              <a:off x="450341" y="4952811"/>
              <a:ext cx="516314" cy="182897"/>
            </a:xfrm>
            <a:prstGeom prst="flowChartInputOutput">
              <a:avLst/>
            </a:prstGeom>
            <a:gradFill flip="none" rotWithShape="1">
              <a:gsLst>
                <a:gs pos="37000">
                  <a:srgbClr val="FFFFFF"/>
                </a:gs>
                <a:gs pos="91000">
                  <a:schemeClr val="tx1">
                    <a:lumMod val="50000"/>
                    <a:lumOff val="50000"/>
                  </a:schemeClr>
                </a:gs>
              </a:gsLst>
              <a:path path="rect">
                <a:fillToRect l="100000" t="100000"/>
              </a:path>
              <a:tileRect r="-100000" b="-100000"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Flowchart: Data 136">
              <a:extLst>
                <a:ext uri="{FF2B5EF4-FFF2-40B4-BE49-F238E27FC236}">
                  <a16:creationId xmlns:a16="http://schemas.microsoft.com/office/drawing/2014/main" id="{7C072A5B-1E40-4CC6-AD82-2257B480A16A}"/>
                </a:ext>
              </a:extLst>
            </p:cNvPr>
            <p:cNvSpPr/>
            <p:nvPr/>
          </p:nvSpPr>
          <p:spPr>
            <a:xfrm rot="5400000" flipH="1" flipV="1">
              <a:off x="357365" y="4952811"/>
              <a:ext cx="516314" cy="182897"/>
            </a:xfrm>
            <a:prstGeom prst="flowChartInputOutput">
              <a:avLst/>
            </a:prstGeom>
            <a:gradFill>
              <a:gsLst>
                <a:gs pos="35000">
                  <a:srgbClr val="FFFFFF"/>
                </a:gs>
                <a:gs pos="100000">
                  <a:schemeClr val="tx1"/>
                </a:gs>
              </a:gsLst>
              <a:lin ang="4200000" scaled="0"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8F34727F-14B0-4BBF-9E71-5EA428DEF0C4}"/>
                </a:ext>
              </a:extLst>
            </p:cNvPr>
            <p:cNvSpPr txBox="1"/>
            <p:nvPr/>
          </p:nvSpPr>
          <p:spPr>
            <a:xfrm>
              <a:off x="925088" y="4862938"/>
              <a:ext cx="375168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-US" altLang="ja-JP" sz="1200" dirty="0"/>
                <a:t>…</a:t>
              </a:r>
              <a:endParaRPr kumimoji="1" lang="ja-JP" altLang="en-US" sz="1600" dirty="0"/>
            </a:p>
          </p:txBody>
        </p:sp>
      </p:grp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48C989D-0B55-4BCE-9D9F-4A6C4314188A}"/>
              </a:ext>
            </a:extLst>
          </p:cNvPr>
          <p:cNvSpPr/>
          <p:nvPr/>
        </p:nvSpPr>
        <p:spPr>
          <a:xfrm>
            <a:off x="2310230" y="3756052"/>
            <a:ext cx="375824" cy="40162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5FECD01-3844-4A27-8CC6-A8D72C776962}"/>
              </a:ext>
            </a:extLst>
          </p:cNvPr>
          <p:cNvSpPr/>
          <p:nvPr/>
        </p:nvSpPr>
        <p:spPr>
          <a:xfrm>
            <a:off x="2310230" y="5059172"/>
            <a:ext cx="375824" cy="401622"/>
          </a:xfrm>
          <a:prstGeom prst="rect">
            <a:avLst/>
          </a:prstGeom>
          <a:gradFill flip="none" rotWithShape="1">
            <a:gsLst>
              <a:gs pos="16000">
                <a:srgbClr val="FFFFFF"/>
              </a:gs>
              <a:gs pos="85000">
                <a:schemeClr val="tx2">
                  <a:lumMod val="75000"/>
                </a:schemeClr>
              </a:gs>
            </a:gsLst>
            <a:lin ang="16200000" scaled="1"/>
            <a:tileRect/>
          </a:gradFill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5E9C58-DAC9-4E65-82B6-28A1CB1B8592}"/>
              </a:ext>
            </a:extLst>
          </p:cNvPr>
          <p:cNvSpPr/>
          <p:nvPr/>
        </p:nvSpPr>
        <p:spPr>
          <a:xfrm>
            <a:off x="4373394" y="3858458"/>
            <a:ext cx="375824" cy="26359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r>
              <a:rPr lang="en-US" altLang="ja-JP" sz="1200" dirty="0"/>
              <a:t>γ</a:t>
            </a:r>
            <a:endParaRPr lang="en-US" sz="1600" dirty="0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09073B9-19F7-4AA5-A37E-C65670201E6A}"/>
              </a:ext>
            </a:extLst>
          </p:cNvPr>
          <p:cNvSpPr/>
          <p:nvPr/>
        </p:nvSpPr>
        <p:spPr>
          <a:xfrm>
            <a:off x="1820837" y="5116692"/>
            <a:ext cx="3353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or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C65F84E-B297-44ED-AB9B-15285B272151}"/>
              </a:ext>
            </a:extLst>
          </p:cNvPr>
          <p:cNvSpPr txBox="1"/>
          <p:nvPr/>
        </p:nvSpPr>
        <p:spPr>
          <a:xfrm>
            <a:off x="674755" y="3372119"/>
            <a:ext cx="899881" cy="16927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ja-JP" sz="1100" dirty="0"/>
              <a:t>Aging images</a:t>
            </a:r>
            <a:endParaRPr kumimoji="1" lang="ja-JP" altLang="en-US" sz="1400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E7CA781-64B1-4316-B99F-583B520F392E}"/>
              </a:ext>
            </a:extLst>
          </p:cNvPr>
          <p:cNvSpPr txBox="1"/>
          <p:nvPr/>
        </p:nvSpPr>
        <p:spPr>
          <a:xfrm>
            <a:off x="2074870" y="4256226"/>
            <a:ext cx="12260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 dirty="0"/>
              <a:t>Static image</a:t>
            </a:r>
            <a:endParaRPr kumimoji="1" lang="ja-JP" altLang="en-US" sz="1100" dirty="0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780CFEE-52A8-4A4C-965B-7FE4D794E64A}"/>
              </a:ext>
            </a:extLst>
          </p:cNvPr>
          <p:cNvCxnSpPr>
            <a:cxnSpLocks/>
          </p:cNvCxnSpPr>
          <p:nvPr/>
        </p:nvCxnSpPr>
        <p:spPr>
          <a:xfrm>
            <a:off x="2967933" y="3964146"/>
            <a:ext cx="576051" cy="0"/>
          </a:xfrm>
          <a:prstGeom prst="straightConnector1">
            <a:avLst/>
          </a:prstGeom>
          <a:ln w="25400">
            <a:solidFill>
              <a:srgbClr val="0070C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94ABAC9B-2BFD-41CB-9288-302A4243C6D1}"/>
              </a:ext>
            </a:extLst>
          </p:cNvPr>
          <p:cNvCxnSpPr>
            <a:cxnSpLocks/>
          </p:cNvCxnSpPr>
          <p:nvPr/>
        </p:nvCxnSpPr>
        <p:spPr>
          <a:xfrm>
            <a:off x="3587693" y="3964146"/>
            <a:ext cx="207840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E8AE3D7-CF6D-4805-BFBF-9CCE9B05E7E6}"/>
              </a:ext>
            </a:extLst>
          </p:cNvPr>
          <p:cNvCxnSpPr>
            <a:cxnSpLocks/>
          </p:cNvCxnSpPr>
          <p:nvPr/>
        </p:nvCxnSpPr>
        <p:spPr>
          <a:xfrm>
            <a:off x="3795533" y="3612663"/>
            <a:ext cx="0" cy="35148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6C18DC1-A98F-4071-9C5F-D8AA7EEBDD69}"/>
              </a:ext>
            </a:extLst>
          </p:cNvPr>
          <p:cNvSpPr/>
          <p:nvPr/>
        </p:nvSpPr>
        <p:spPr>
          <a:xfrm>
            <a:off x="5210255" y="5590824"/>
            <a:ext cx="955591" cy="332744"/>
          </a:xfrm>
          <a:prstGeom prst="rect">
            <a:avLst/>
          </a:prstGeom>
          <a:solidFill>
            <a:schemeClr val="tx2">
              <a:lumMod val="85000"/>
            </a:schemeClr>
          </a:solidFill>
          <a:ln w="3175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r>
              <a:rPr lang="en-US" sz="1200" dirty="0"/>
              <a:t>Total Stress</a:t>
            </a:r>
            <a:endParaRPr lang="en-US" dirty="0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C5C4F451-1290-426F-B06F-EBE2E6577D68}"/>
              </a:ext>
            </a:extLst>
          </p:cNvPr>
          <p:cNvCxnSpPr>
            <a:cxnSpLocks/>
          </p:cNvCxnSpPr>
          <p:nvPr/>
        </p:nvCxnSpPr>
        <p:spPr>
          <a:xfrm flipH="1">
            <a:off x="6185298" y="5825059"/>
            <a:ext cx="3660285" cy="0"/>
          </a:xfrm>
          <a:prstGeom prst="straightConnector1">
            <a:avLst/>
          </a:prstGeom>
          <a:ln w="25400">
            <a:solidFill>
              <a:schemeClr val="accent1"/>
            </a:solidFill>
            <a:prstDash val="solid"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4D7FAEEF-58CC-47C5-811B-9B82495F6923}"/>
              </a:ext>
            </a:extLst>
          </p:cNvPr>
          <p:cNvCxnSpPr>
            <a:cxnSpLocks/>
          </p:cNvCxnSpPr>
          <p:nvPr/>
        </p:nvCxnSpPr>
        <p:spPr>
          <a:xfrm flipH="1">
            <a:off x="8803799" y="4364211"/>
            <a:ext cx="1041784" cy="0"/>
          </a:xfrm>
          <a:prstGeom prst="straightConnector1">
            <a:avLst/>
          </a:prstGeom>
          <a:ln w="25400">
            <a:solidFill>
              <a:schemeClr val="accent1"/>
            </a:solidFill>
            <a:prstDash val="solid"/>
            <a:headEnd type="triangle" w="lg" len="lg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EB4A25B-9B72-4C86-8FA7-5FFD920050D0}"/>
              </a:ext>
            </a:extLst>
          </p:cNvPr>
          <p:cNvSpPr/>
          <p:nvPr/>
        </p:nvSpPr>
        <p:spPr>
          <a:xfrm>
            <a:off x="6963860" y="5804719"/>
            <a:ext cx="1461631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( Load / Save )</a:t>
            </a:r>
            <a:endParaRPr lang="en-US" sz="9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031963B-97AC-402B-B274-8ED90CAD8765}"/>
              </a:ext>
            </a:extLst>
          </p:cNvPr>
          <p:cNvGrpSpPr/>
          <p:nvPr/>
        </p:nvGrpSpPr>
        <p:grpSpPr>
          <a:xfrm>
            <a:off x="9922690" y="4279404"/>
            <a:ext cx="356641" cy="432774"/>
            <a:chOff x="3300959" y="2044755"/>
            <a:chExt cx="356641" cy="432774"/>
          </a:xfrm>
        </p:grpSpPr>
        <p:sp>
          <p:nvSpPr>
            <p:cNvPr id="52" name="Rectangle: Folded Corner 51">
              <a:extLst>
                <a:ext uri="{FF2B5EF4-FFF2-40B4-BE49-F238E27FC236}">
                  <a16:creationId xmlns:a16="http://schemas.microsoft.com/office/drawing/2014/main" id="{9A7113A9-0A5B-4811-BED1-9493DBD3D272}"/>
                </a:ext>
              </a:extLst>
            </p:cNvPr>
            <p:cNvSpPr/>
            <p:nvPr/>
          </p:nvSpPr>
          <p:spPr>
            <a:xfrm flipV="1">
              <a:off x="3300959" y="2044755"/>
              <a:ext cx="356641" cy="432774"/>
            </a:xfrm>
            <a:prstGeom prst="foldedCorner">
              <a:avLst>
                <a:gd name="adj" fmla="val 26756"/>
              </a:avLst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D70EFF0-0E1B-462F-936C-4BA14411A23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206898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26A239C-E2CD-4C2D-A337-6E3832FF33B9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253891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0A7B684-3691-4F12-B3CE-A685761EA9F3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00884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2E0E97B-0578-4F20-820B-8B22CBACC61C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47877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C590B7A-0A13-4D61-8F5E-0F8848EBABDB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94870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BBBA8FED-485B-4EF3-B3CD-7DC7F7EA1A62}"/>
              </a:ext>
            </a:extLst>
          </p:cNvPr>
          <p:cNvGrpSpPr/>
          <p:nvPr/>
        </p:nvGrpSpPr>
        <p:grpSpPr>
          <a:xfrm>
            <a:off x="9921807" y="5552418"/>
            <a:ext cx="356641" cy="432774"/>
            <a:chOff x="3300959" y="2044755"/>
            <a:chExt cx="356641" cy="432774"/>
          </a:xfrm>
        </p:grpSpPr>
        <p:sp>
          <p:nvSpPr>
            <p:cNvPr id="190" name="Rectangle: Folded Corner 189">
              <a:extLst>
                <a:ext uri="{FF2B5EF4-FFF2-40B4-BE49-F238E27FC236}">
                  <a16:creationId xmlns:a16="http://schemas.microsoft.com/office/drawing/2014/main" id="{0FA2F689-1203-4B10-92D7-68F9D80064BB}"/>
                </a:ext>
              </a:extLst>
            </p:cNvPr>
            <p:cNvSpPr/>
            <p:nvPr/>
          </p:nvSpPr>
          <p:spPr>
            <a:xfrm flipV="1">
              <a:off x="3300959" y="2044755"/>
              <a:ext cx="356641" cy="432774"/>
            </a:xfrm>
            <a:prstGeom prst="foldedCorner">
              <a:avLst>
                <a:gd name="adj" fmla="val 26756"/>
              </a:avLst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83C5E6F5-C338-43E4-9507-272DAC0B6C7D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206898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1A06E63F-C50D-4C40-A7C8-BB68D39EB72C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253891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CD0D54E0-0865-433A-9E50-BFC65A9AD5A5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00884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B482B0F3-AF07-45C7-A470-4AD8BEDBED7D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47877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367B4033-A808-49C4-B1BC-C70F6EFE5458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94870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0" name="Rectangle 199">
            <a:extLst>
              <a:ext uri="{FF2B5EF4-FFF2-40B4-BE49-F238E27FC236}">
                <a16:creationId xmlns:a16="http://schemas.microsoft.com/office/drawing/2014/main" id="{0FE77C69-4823-4C3B-A9FC-C0E38459B33F}"/>
              </a:ext>
            </a:extLst>
          </p:cNvPr>
          <p:cNvSpPr/>
          <p:nvPr/>
        </p:nvSpPr>
        <p:spPr>
          <a:xfrm>
            <a:off x="10180004" y="5793508"/>
            <a:ext cx="177414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Total Stress Map x RGB</a:t>
            </a:r>
            <a:endParaRPr lang="en-US" sz="900" dirty="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B80195F1-7C71-453D-AC85-DCC7E2D86032}"/>
              </a:ext>
            </a:extLst>
          </p:cNvPr>
          <p:cNvSpPr/>
          <p:nvPr/>
        </p:nvSpPr>
        <p:spPr>
          <a:xfrm>
            <a:off x="9709299" y="4751385"/>
            <a:ext cx="177598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Degradation Map x RGB</a:t>
            </a:r>
            <a:endParaRPr lang="en-US" sz="900" dirty="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E852A4F-DEB0-4641-9F93-1ACF2180162A}"/>
              </a:ext>
            </a:extLst>
          </p:cNvPr>
          <p:cNvSpPr/>
          <p:nvPr/>
        </p:nvSpPr>
        <p:spPr>
          <a:xfrm>
            <a:off x="9922690" y="3338431"/>
            <a:ext cx="375824" cy="401622"/>
          </a:xfrm>
          <a:prstGeom prst="rect">
            <a:avLst/>
          </a:prstGeom>
          <a:gradFill>
            <a:gsLst>
              <a:gs pos="16000">
                <a:srgbClr val="FFFFFF"/>
              </a:gs>
              <a:gs pos="85000">
                <a:schemeClr val="accent4">
                  <a:lumMod val="20000"/>
                  <a:lumOff val="80000"/>
                </a:schemeClr>
              </a:gs>
            </a:gsLst>
            <a:lin ang="16200000" scaled="1"/>
          </a:gradFill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C2E3855E-1C6D-4479-A3E5-1B465B254FF6}"/>
              </a:ext>
            </a:extLst>
          </p:cNvPr>
          <p:cNvSpPr txBox="1"/>
          <p:nvPr/>
        </p:nvSpPr>
        <p:spPr>
          <a:xfrm>
            <a:off x="9760521" y="4917170"/>
            <a:ext cx="2284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(generated at specified timing.)</a:t>
            </a:r>
            <a:endParaRPr kumimoji="1" lang="ja-JP" altLang="en-US" sz="1600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DF843F1-72AD-420A-8C56-6B53E5A87BCB}"/>
              </a:ext>
            </a:extLst>
          </p:cNvPr>
          <p:cNvSpPr txBox="1"/>
          <p:nvPr/>
        </p:nvSpPr>
        <p:spPr>
          <a:xfrm>
            <a:off x="9755428" y="6019209"/>
            <a:ext cx="22845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(generated at specified timing.)</a:t>
            </a:r>
            <a:endParaRPr kumimoji="1" lang="ja-JP" altLang="en-US" sz="1600" dirty="0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71EC3635-0DBA-41AD-B62C-C3BEEDE9E7EF}"/>
              </a:ext>
            </a:extLst>
          </p:cNvPr>
          <p:cNvCxnSpPr>
            <a:cxnSpLocks/>
          </p:cNvCxnSpPr>
          <p:nvPr/>
        </p:nvCxnSpPr>
        <p:spPr>
          <a:xfrm rot="5400000">
            <a:off x="5836171" y="3138899"/>
            <a:ext cx="576051" cy="0"/>
          </a:xfrm>
          <a:prstGeom prst="straightConnector1">
            <a:avLst/>
          </a:prstGeom>
          <a:ln w="25400">
            <a:solidFill>
              <a:srgbClr val="0070C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Rectangle 216">
            <a:extLst>
              <a:ext uri="{FF2B5EF4-FFF2-40B4-BE49-F238E27FC236}">
                <a16:creationId xmlns:a16="http://schemas.microsoft.com/office/drawing/2014/main" id="{F916A670-8358-4466-8A95-22B1797092A9}"/>
              </a:ext>
            </a:extLst>
          </p:cNvPr>
          <p:cNvSpPr/>
          <p:nvPr/>
        </p:nvSpPr>
        <p:spPr>
          <a:xfrm>
            <a:off x="5011899" y="2526874"/>
            <a:ext cx="2821235" cy="492443"/>
          </a:xfrm>
          <a:prstGeom prst="rect">
            <a:avLst/>
          </a:prstGeom>
          <a:solidFill>
            <a:srgbClr val="FFFFFF"/>
          </a:solidFill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Degradation model parameters</a:t>
            </a:r>
          </a:p>
          <a:p>
            <a:pPr algn="ctr"/>
            <a:r>
              <a:rPr lang="en-US" sz="1200" dirty="0"/>
              <a:t>(Extracted from measurement data)</a:t>
            </a:r>
            <a:endParaRPr lang="en-US" sz="1400" dirty="0"/>
          </a:p>
        </p:txBody>
      </p: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C4710E00-6DE4-410B-8FAF-6D55B021DB7A}"/>
              </a:ext>
            </a:extLst>
          </p:cNvPr>
          <p:cNvCxnSpPr>
            <a:cxnSpLocks/>
          </p:cNvCxnSpPr>
          <p:nvPr/>
        </p:nvCxnSpPr>
        <p:spPr>
          <a:xfrm rot="5400000">
            <a:off x="7752199" y="3153577"/>
            <a:ext cx="576051" cy="0"/>
          </a:xfrm>
          <a:prstGeom prst="straightConnector1">
            <a:avLst/>
          </a:prstGeom>
          <a:ln w="25400">
            <a:solidFill>
              <a:srgbClr val="0070C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6040622C-E813-462B-987B-0F7C5556697B}"/>
              </a:ext>
            </a:extLst>
          </p:cNvPr>
          <p:cNvSpPr txBox="1"/>
          <p:nvPr/>
        </p:nvSpPr>
        <p:spPr>
          <a:xfrm>
            <a:off x="7861134" y="2537653"/>
            <a:ext cx="15516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b="1" dirty="0">
                <a:solidFill>
                  <a:srgbClr val="0070C0"/>
                </a:solidFill>
              </a:rPr>
              <a:t>Sim conditions</a:t>
            </a:r>
            <a:endParaRPr kumimoji="1" lang="ja-JP" altLang="en-US" b="1" dirty="0">
              <a:solidFill>
                <a:srgbClr val="0070C0"/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5DA7086-5809-48CC-974E-8809297127F9}"/>
              </a:ext>
            </a:extLst>
          </p:cNvPr>
          <p:cNvSpPr txBox="1"/>
          <p:nvPr/>
        </p:nvSpPr>
        <p:spPr>
          <a:xfrm>
            <a:off x="8075925" y="2800978"/>
            <a:ext cx="2440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Aging time, </a:t>
            </a:r>
          </a:p>
          <a:p>
            <a:r>
              <a:rPr kumimoji="1" lang="en-US" altLang="ja-JP" sz="1000" dirty="0"/>
              <a:t>Acceleration setting for simulation time. </a:t>
            </a:r>
            <a:endParaRPr kumimoji="1" lang="ja-JP" altLang="en-US" sz="1000" dirty="0"/>
          </a:p>
        </p:txBody>
      </p:sp>
      <p:sp>
        <p:nvSpPr>
          <p:cNvPr id="233" name="Double Bracket 232">
            <a:extLst>
              <a:ext uri="{FF2B5EF4-FFF2-40B4-BE49-F238E27FC236}">
                <a16:creationId xmlns:a16="http://schemas.microsoft.com/office/drawing/2014/main" id="{CECD9D61-C101-4738-A226-C61B1F42B4E9}"/>
              </a:ext>
            </a:extLst>
          </p:cNvPr>
          <p:cNvSpPr/>
          <p:nvPr/>
        </p:nvSpPr>
        <p:spPr>
          <a:xfrm>
            <a:off x="8110972" y="2857181"/>
            <a:ext cx="2282660" cy="319296"/>
          </a:xfrm>
          <a:prstGeom prst="bracketPair">
            <a:avLst>
              <a:gd name="adj" fmla="val 13293"/>
            </a:avLst>
          </a:prstGeom>
          <a:ln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7D860A6-5122-4997-8947-6992B095BCE5}"/>
              </a:ext>
            </a:extLst>
          </p:cNvPr>
          <p:cNvSpPr/>
          <p:nvPr/>
        </p:nvSpPr>
        <p:spPr>
          <a:xfrm>
            <a:off x="4871719" y="1389834"/>
            <a:ext cx="728003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Simulates the degradation behavior of OLED panels and generates degraded images.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Supports both movie and still image input, and reduces simulation time                        through a degradation acceleration function.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Can be combined with DBI and BIP to be used in IP development.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7869B8-1A00-46A1-A723-7C9AD4BF2BB5}"/>
              </a:ext>
            </a:extLst>
          </p:cNvPr>
          <p:cNvSpPr/>
          <p:nvPr/>
        </p:nvSpPr>
        <p:spPr>
          <a:xfrm>
            <a:off x="4826221" y="1008001"/>
            <a:ext cx="25492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/>
              <a:t>Burn-in simulator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7F55F019-D987-49CF-BC0A-1192199CBDBB}"/>
              </a:ext>
            </a:extLst>
          </p:cNvPr>
          <p:cNvSpPr/>
          <p:nvPr/>
        </p:nvSpPr>
        <p:spPr>
          <a:xfrm>
            <a:off x="11460975" y="3338431"/>
            <a:ext cx="375824" cy="40162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>
            <a:normAutofit/>
          </a:bodyPr>
          <a:lstStyle/>
          <a:p>
            <a:pPr algn="ctr"/>
            <a:endParaRPr lang="en-US" sz="8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71C0AB5B-46B3-4DD4-A8EA-2F9A02BE2931}"/>
              </a:ext>
            </a:extLst>
          </p:cNvPr>
          <p:cNvSpPr txBox="1"/>
          <p:nvPr/>
        </p:nvSpPr>
        <p:spPr>
          <a:xfrm>
            <a:off x="11218976" y="3124245"/>
            <a:ext cx="839766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ja-JP" sz="1100" dirty="0"/>
              <a:t>Test image</a:t>
            </a:r>
            <a:endParaRPr kumimoji="1" lang="ja-JP" altLang="en-US" sz="1400" dirty="0"/>
          </a:p>
        </p:txBody>
      </p:sp>
      <p:sp>
        <p:nvSpPr>
          <p:cNvPr id="66" name="Arrow: Left-Right 65">
            <a:extLst>
              <a:ext uri="{FF2B5EF4-FFF2-40B4-BE49-F238E27FC236}">
                <a16:creationId xmlns:a16="http://schemas.microsoft.com/office/drawing/2014/main" id="{CCC2192D-FA93-414E-B25E-284E04A37DDB}"/>
              </a:ext>
            </a:extLst>
          </p:cNvPr>
          <p:cNvSpPr/>
          <p:nvPr/>
        </p:nvSpPr>
        <p:spPr>
          <a:xfrm>
            <a:off x="10382634" y="3411541"/>
            <a:ext cx="994220" cy="219104"/>
          </a:xfrm>
          <a:prstGeom prst="leftRightArrow">
            <a:avLst>
              <a:gd name="adj1" fmla="val 64628"/>
              <a:gd name="adj2" fmla="val 108140"/>
            </a:avLst>
          </a:prstGeom>
          <a:ln w="12700">
            <a:solidFill>
              <a:schemeClr val="accent2">
                <a:lumMod val="40000"/>
                <a:lumOff val="6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accent1"/>
                </a:solidFill>
              </a:rPr>
              <a:t>Compare</a:t>
            </a:r>
            <a:endParaRPr lang="en-US" sz="1600" dirty="0">
              <a:solidFill>
                <a:schemeClr val="accent1"/>
              </a:solidFill>
            </a:endParaRP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E96AA6A9-8964-4EFC-9E2A-1066FB28EAD2}"/>
              </a:ext>
            </a:extLst>
          </p:cNvPr>
          <p:cNvGrpSpPr/>
          <p:nvPr/>
        </p:nvGrpSpPr>
        <p:grpSpPr>
          <a:xfrm>
            <a:off x="6258441" y="3009440"/>
            <a:ext cx="292978" cy="355520"/>
            <a:chOff x="3300959" y="2044755"/>
            <a:chExt cx="356641" cy="432774"/>
          </a:xfrm>
        </p:grpSpPr>
        <p:sp>
          <p:nvSpPr>
            <p:cNvPr id="222" name="Rectangle: Folded Corner 221">
              <a:extLst>
                <a:ext uri="{FF2B5EF4-FFF2-40B4-BE49-F238E27FC236}">
                  <a16:creationId xmlns:a16="http://schemas.microsoft.com/office/drawing/2014/main" id="{02491245-064A-4799-9CCB-108339ED1F21}"/>
                </a:ext>
              </a:extLst>
            </p:cNvPr>
            <p:cNvSpPr/>
            <p:nvPr/>
          </p:nvSpPr>
          <p:spPr>
            <a:xfrm flipV="1">
              <a:off x="3300959" y="2044755"/>
              <a:ext cx="356641" cy="432774"/>
            </a:xfrm>
            <a:prstGeom prst="foldedCorner">
              <a:avLst>
                <a:gd name="adj" fmla="val 26756"/>
              </a:avLst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4DBF288-7179-4E57-9998-001D1A5407DE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206898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04DF56C2-0453-4671-9A94-85E701CDCB81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253891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7166CF7F-92E5-4DBC-AFCB-1F59A8E10303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00884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C1BB9851-052A-4313-A824-52A1E1391D5C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47877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B5C78A1C-F024-4B7C-A73E-D77EA15F69D2}"/>
                </a:ext>
              </a:extLst>
            </p:cNvPr>
            <p:cNvCxnSpPr>
              <a:cxnSpLocks/>
            </p:cNvCxnSpPr>
            <p:nvPr/>
          </p:nvCxnSpPr>
          <p:spPr>
            <a:xfrm>
              <a:off x="3359150" y="2394870"/>
              <a:ext cx="219018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テキスト ボックス 9">
            <a:extLst>
              <a:ext uri="{FF2B5EF4-FFF2-40B4-BE49-F238E27FC236}">
                <a16:creationId xmlns:a16="http://schemas.microsoft.com/office/drawing/2014/main" id="{D7288C0D-C2AE-4A72-A270-5C538DA80728}"/>
              </a:ext>
            </a:extLst>
          </p:cNvPr>
          <p:cNvSpPr txBox="1"/>
          <p:nvPr/>
        </p:nvSpPr>
        <p:spPr>
          <a:xfrm>
            <a:off x="6670154" y="4711658"/>
            <a:ext cx="119871" cy="221599"/>
          </a:xfrm>
          <a:prstGeom prst="rect">
            <a:avLst/>
          </a:prstGeom>
          <a:solidFill>
            <a:srgbClr val="0000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tIns="18288" rIns="18288" bIns="18288" rtlCol="0">
            <a:spAutoFit/>
          </a:bodyPr>
          <a:lstStyle/>
          <a:p>
            <a:pPr algn="ctr" defTabSz="914400"/>
            <a:r>
              <a:rPr kumimoji="1" lang="en-US" altLang="ja-JP" sz="1200" dirty="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1</a:t>
            </a:r>
            <a:endParaRPr kumimoji="1" lang="en-US" altLang="ja-JP" sz="1100" dirty="0">
              <a:solidFill>
                <a:srgbClr val="FFFFFF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50" name="テキスト ボックス 9">
            <a:extLst>
              <a:ext uri="{FF2B5EF4-FFF2-40B4-BE49-F238E27FC236}">
                <a16:creationId xmlns:a16="http://schemas.microsoft.com/office/drawing/2014/main" id="{C5D9E2B7-C70A-4A93-ADF1-9D0B471528C3}"/>
              </a:ext>
            </a:extLst>
          </p:cNvPr>
          <p:cNvSpPr txBox="1"/>
          <p:nvPr/>
        </p:nvSpPr>
        <p:spPr>
          <a:xfrm>
            <a:off x="7223299" y="4424229"/>
            <a:ext cx="119871" cy="221599"/>
          </a:xfrm>
          <a:prstGeom prst="rect">
            <a:avLst/>
          </a:prstGeom>
          <a:solidFill>
            <a:srgbClr val="990000">
              <a:lumMod val="60000"/>
              <a:lumOff val="4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tIns="18288" rIns="18288" bIns="18288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</a:t>
            </a:r>
            <a:endParaRPr kumimoji="1" lang="en-US" altLang="ja-JP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63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A5762E-26C2-3968-3B1F-84B649D04DB3}"/>
              </a:ext>
            </a:extLst>
          </p:cNvPr>
          <p:cNvSpPr txBox="1"/>
          <p:nvPr/>
        </p:nvSpPr>
        <p:spPr>
          <a:xfrm>
            <a:off x="332478" y="139727"/>
            <a:ext cx="1052765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sz="2400" b="1" dirty="0">
                <a:solidFill>
                  <a:srgbClr val="0070C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Platform Concept for DBI &amp; BIP development :  Use-Case Examples 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A9C57528-335F-40FF-AAEA-BCC2E7AFE559}"/>
              </a:ext>
            </a:extLst>
          </p:cNvPr>
          <p:cNvSpPr/>
          <p:nvPr/>
        </p:nvSpPr>
        <p:spPr>
          <a:xfrm>
            <a:off x="-245863" y="728490"/>
            <a:ext cx="3176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( Step:1 ) Aging Step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3DEF53E9-4A0B-471E-B839-8464A134D1B2}"/>
              </a:ext>
            </a:extLst>
          </p:cNvPr>
          <p:cNvSpPr/>
          <p:nvPr/>
        </p:nvSpPr>
        <p:spPr>
          <a:xfrm>
            <a:off x="6440194" y="728490"/>
            <a:ext cx="3541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( Step:2 ) PQ Evaluation Step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A25C6FE-54F2-408C-BA78-E684D67CC58B}"/>
              </a:ext>
            </a:extLst>
          </p:cNvPr>
          <p:cNvGrpSpPr/>
          <p:nvPr/>
        </p:nvGrpSpPr>
        <p:grpSpPr>
          <a:xfrm>
            <a:off x="218393" y="1119966"/>
            <a:ext cx="6068758" cy="2282015"/>
            <a:chOff x="294593" y="1259666"/>
            <a:chExt cx="6068758" cy="228201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F6EFF07-17C4-40AE-9EA5-12F95AC4CB0B}"/>
                </a:ext>
              </a:extLst>
            </p:cNvPr>
            <p:cNvSpPr/>
            <p:nvPr/>
          </p:nvSpPr>
          <p:spPr>
            <a:xfrm>
              <a:off x="4847909" y="2714910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sp>
          <p:nvSpPr>
            <p:cNvPr id="152" name="Rectangle: Rounded Corners 151">
              <a:extLst>
                <a:ext uri="{FF2B5EF4-FFF2-40B4-BE49-F238E27FC236}">
                  <a16:creationId xmlns:a16="http://schemas.microsoft.com/office/drawing/2014/main" id="{C3D7F1E8-7255-4C9F-8CBC-0E8C2997C6AA}"/>
                </a:ext>
              </a:extLst>
            </p:cNvPr>
            <p:cNvSpPr/>
            <p:nvPr/>
          </p:nvSpPr>
          <p:spPr>
            <a:xfrm>
              <a:off x="4847909" y="1649820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522C3B20-2D9F-48AF-A81A-099E339A5953}"/>
                </a:ext>
              </a:extLst>
            </p:cNvPr>
            <p:cNvGrpSpPr/>
            <p:nvPr/>
          </p:nvGrpSpPr>
          <p:grpSpPr>
            <a:xfrm>
              <a:off x="309996" y="2192640"/>
              <a:ext cx="1010628" cy="598568"/>
              <a:chOff x="524073" y="4786103"/>
              <a:chExt cx="791658" cy="516314"/>
            </a:xfrm>
          </p:grpSpPr>
          <p:sp>
            <p:nvSpPr>
              <p:cNvPr id="156" name="Flowchart: Data 155">
                <a:extLst>
                  <a:ext uri="{FF2B5EF4-FFF2-40B4-BE49-F238E27FC236}">
                    <a16:creationId xmlns:a16="http://schemas.microsoft.com/office/drawing/2014/main" id="{C198D00E-D50C-4A05-BB10-6E953FCDDDD0}"/>
                  </a:ext>
                </a:extLst>
              </p:cNvPr>
              <p:cNvSpPr/>
              <p:nvPr/>
            </p:nvSpPr>
            <p:spPr>
              <a:xfrm rot="5400000" flipH="1" flipV="1">
                <a:off x="966126" y="4952811"/>
                <a:ext cx="516314" cy="182897"/>
              </a:xfrm>
              <a:prstGeom prst="flowChartInputOutput">
                <a:avLst/>
              </a:prstGeom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Flowchart: Data 158">
                <a:extLst>
                  <a:ext uri="{FF2B5EF4-FFF2-40B4-BE49-F238E27FC236}">
                    <a16:creationId xmlns:a16="http://schemas.microsoft.com/office/drawing/2014/main" id="{A1F0B75C-FB23-4DC2-BC72-4DA9995BFF63}"/>
                  </a:ext>
                </a:extLst>
              </p:cNvPr>
              <p:cNvSpPr/>
              <p:nvPr/>
            </p:nvSpPr>
            <p:spPr>
              <a:xfrm rot="5400000" flipH="1" flipV="1">
                <a:off x="671431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Flowchart: Data 159">
                <a:extLst>
                  <a:ext uri="{FF2B5EF4-FFF2-40B4-BE49-F238E27FC236}">
                    <a16:creationId xmlns:a16="http://schemas.microsoft.com/office/drawing/2014/main" id="{36DB52C5-289A-4317-85A8-0B1DF801B7E2}"/>
                  </a:ext>
                </a:extLst>
              </p:cNvPr>
              <p:cNvSpPr/>
              <p:nvPr/>
            </p:nvSpPr>
            <p:spPr>
              <a:xfrm rot="5400000" flipH="1" flipV="1">
                <a:off x="560886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Flowchart: Data 161">
                <a:extLst>
                  <a:ext uri="{FF2B5EF4-FFF2-40B4-BE49-F238E27FC236}">
                    <a16:creationId xmlns:a16="http://schemas.microsoft.com/office/drawing/2014/main" id="{9D7766E7-5970-4F9B-80C2-72FCA3244F0E}"/>
                  </a:ext>
                </a:extLst>
              </p:cNvPr>
              <p:cNvSpPr/>
              <p:nvPr/>
            </p:nvSpPr>
            <p:spPr>
              <a:xfrm rot="5400000" flipH="1" flipV="1">
                <a:off x="450341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Flowchart: Data 168">
                <a:extLst>
                  <a:ext uri="{FF2B5EF4-FFF2-40B4-BE49-F238E27FC236}">
                    <a16:creationId xmlns:a16="http://schemas.microsoft.com/office/drawing/2014/main" id="{11921E1D-9B92-4CD9-896F-02D1C42F5F67}"/>
                  </a:ext>
                </a:extLst>
              </p:cNvPr>
              <p:cNvSpPr/>
              <p:nvPr/>
            </p:nvSpPr>
            <p:spPr>
              <a:xfrm rot="5400000" flipH="1" flipV="1">
                <a:off x="357365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A8B09E78-8691-46E1-A1E6-71356573C035}"/>
                  </a:ext>
                </a:extLst>
              </p:cNvPr>
              <p:cNvSpPr txBox="1"/>
              <p:nvPr/>
            </p:nvSpPr>
            <p:spPr>
              <a:xfrm>
                <a:off x="925088" y="4862938"/>
                <a:ext cx="375168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en-US" altLang="ja-JP" sz="1200" dirty="0"/>
                  <a:t>…</a:t>
                </a:r>
                <a:endParaRPr kumimoji="1" lang="ja-JP" altLang="en-US" sz="1600" dirty="0"/>
              </a:p>
            </p:txBody>
          </p:sp>
        </p:grp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F600BDE-057B-4E72-837E-023894BE4740}"/>
                </a:ext>
              </a:extLst>
            </p:cNvPr>
            <p:cNvSpPr txBox="1"/>
            <p:nvPr/>
          </p:nvSpPr>
          <p:spPr>
            <a:xfrm>
              <a:off x="294593" y="1729347"/>
              <a:ext cx="1036039" cy="33855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100" dirty="0"/>
                <a:t>Aging images with Heat Map</a:t>
              </a:r>
              <a:endParaRPr kumimoji="1" lang="ja-JP" altLang="en-US" sz="1400" dirty="0"/>
            </a:p>
          </p:txBody>
        </p: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32F19332-24D1-427D-A4FE-918CBDDFBCB3}"/>
                </a:ext>
              </a:extLst>
            </p:cNvPr>
            <p:cNvGrpSpPr/>
            <p:nvPr/>
          </p:nvGrpSpPr>
          <p:grpSpPr>
            <a:xfrm>
              <a:off x="3355603" y="1849897"/>
              <a:ext cx="1010628" cy="598568"/>
              <a:chOff x="524073" y="4786103"/>
              <a:chExt cx="791658" cy="516314"/>
            </a:xfrm>
          </p:grpSpPr>
          <p:sp>
            <p:nvSpPr>
              <p:cNvPr id="212" name="Flowchart: Data 211">
                <a:extLst>
                  <a:ext uri="{FF2B5EF4-FFF2-40B4-BE49-F238E27FC236}">
                    <a16:creationId xmlns:a16="http://schemas.microsoft.com/office/drawing/2014/main" id="{9660BEDD-6D18-419C-BD7D-3331187C1079}"/>
                  </a:ext>
                </a:extLst>
              </p:cNvPr>
              <p:cNvSpPr/>
              <p:nvPr/>
            </p:nvSpPr>
            <p:spPr>
              <a:xfrm rot="5400000" flipH="1" flipV="1">
                <a:off x="966126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Flowchart: Data 212">
                <a:extLst>
                  <a:ext uri="{FF2B5EF4-FFF2-40B4-BE49-F238E27FC236}">
                    <a16:creationId xmlns:a16="http://schemas.microsoft.com/office/drawing/2014/main" id="{92DBBB8E-176E-4916-AE8D-D79D4E44A64C}"/>
                  </a:ext>
                </a:extLst>
              </p:cNvPr>
              <p:cNvSpPr/>
              <p:nvPr/>
            </p:nvSpPr>
            <p:spPr>
              <a:xfrm rot="5400000" flipH="1" flipV="1">
                <a:off x="671431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Flowchart: Data 217">
                <a:extLst>
                  <a:ext uri="{FF2B5EF4-FFF2-40B4-BE49-F238E27FC236}">
                    <a16:creationId xmlns:a16="http://schemas.microsoft.com/office/drawing/2014/main" id="{0ABA4DAC-1B92-4F28-B630-FE307F7FDB03}"/>
                  </a:ext>
                </a:extLst>
              </p:cNvPr>
              <p:cNvSpPr/>
              <p:nvPr/>
            </p:nvSpPr>
            <p:spPr>
              <a:xfrm rot="5400000" flipH="1" flipV="1">
                <a:off x="560886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Flowchart: Data 218">
                <a:extLst>
                  <a:ext uri="{FF2B5EF4-FFF2-40B4-BE49-F238E27FC236}">
                    <a16:creationId xmlns:a16="http://schemas.microsoft.com/office/drawing/2014/main" id="{410AE8D9-8C97-4E3C-BE51-9DEB2FD99B65}"/>
                  </a:ext>
                </a:extLst>
              </p:cNvPr>
              <p:cNvSpPr/>
              <p:nvPr/>
            </p:nvSpPr>
            <p:spPr>
              <a:xfrm rot="5400000" flipH="1" flipV="1">
                <a:off x="450341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Flowchart: Data 219">
                <a:extLst>
                  <a:ext uri="{FF2B5EF4-FFF2-40B4-BE49-F238E27FC236}">
                    <a16:creationId xmlns:a16="http://schemas.microsoft.com/office/drawing/2014/main" id="{0C9587CF-4818-4FE0-9BA4-067237BFD056}"/>
                  </a:ext>
                </a:extLst>
              </p:cNvPr>
              <p:cNvSpPr/>
              <p:nvPr/>
            </p:nvSpPr>
            <p:spPr>
              <a:xfrm rot="5400000" flipH="1" flipV="1">
                <a:off x="357365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2CC465A4-0576-4037-AB8D-30F25FFA1327}"/>
                  </a:ext>
                </a:extLst>
              </p:cNvPr>
              <p:cNvSpPr txBox="1"/>
              <p:nvPr/>
            </p:nvSpPr>
            <p:spPr>
              <a:xfrm>
                <a:off x="925088" y="4862938"/>
                <a:ext cx="375168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en-US" altLang="ja-JP" sz="1200" dirty="0"/>
                  <a:t>…</a:t>
                </a:r>
                <a:endParaRPr kumimoji="1" lang="ja-JP" altLang="en-US" sz="1600" dirty="0"/>
              </a:p>
            </p:txBody>
          </p:sp>
        </p:grp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86811875-4B28-4DD8-9812-5B8A4BE64329}"/>
                </a:ext>
              </a:extLst>
            </p:cNvPr>
            <p:cNvSpPr txBox="1"/>
            <p:nvPr/>
          </p:nvSpPr>
          <p:spPr>
            <a:xfrm>
              <a:off x="4571342" y="1259666"/>
              <a:ext cx="15744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/>
                <a:t>Sim. acceleration setting</a:t>
              </a:r>
              <a:endParaRPr kumimoji="1" lang="ja-JP" altLang="en-US" sz="1000" dirty="0"/>
            </a:p>
          </p:txBody>
        </p: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83EFADCD-A7FC-4539-BBBA-EFD832A0AE4D}"/>
                </a:ext>
              </a:extLst>
            </p:cNvPr>
            <p:cNvCxnSpPr>
              <a:cxnSpLocks/>
            </p:cNvCxnSpPr>
            <p:nvPr/>
          </p:nvCxnSpPr>
          <p:spPr>
            <a:xfrm>
              <a:off x="1418693" y="2470748"/>
              <a:ext cx="262612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80730BF1-AC72-417B-95C4-04CDBC2869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1305" y="1972716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9A7A36DB-0908-463E-A0F8-21A0F689ACD5}"/>
                </a:ext>
              </a:extLst>
            </p:cNvPr>
            <p:cNvCxnSpPr>
              <a:cxnSpLocks/>
            </p:cNvCxnSpPr>
            <p:nvPr/>
          </p:nvCxnSpPr>
          <p:spPr>
            <a:xfrm>
              <a:off x="1773743" y="1972716"/>
              <a:ext cx="1521775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CB6DB4B9-DB90-4339-9B79-4EDA865E4866}"/>
                </a:ext>
              </a:extLst>
            </p:cNvPr>
            <p:cNvCxnSpPr>
              <a:cxnSpLocks/>
            </p:cNvCxnSpPr>
            <p:nvPr/>
          </p:nvCxnSpPr>
          <p:spPr>
            <a:xfrm>
              <a:off x="1768400" y="2982833"/>
              <a:ext cx="3040555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B9C982B5-4F4C-4150-A156-287F9549AD3B}"/>
                </a:ext>
              </a:extLst>
            </p:cNvPr>
            <p:cNvSpPr/>
            <p:nvPr/>
          </p:nvSpPr>
          <p:spPr>
            <a:xfrm>
              <a:off x="2036355" y="1718753"/>
              <a:ext cx="668756" cy="374443"/>
            </a:xfrm>
            <a:prstGeom prst="rect">
              <a:avLst/>
            </a:prstGeom>
            <a:solidFill>
              <a:srgbClr val="0070C0"/>
            </a:solidFill>
            <a:ln w="25400">
              <a:solidFill>
                <a:schemeClr val="tx2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1600" dirty="0">
                  <a:solidFill>
                    <a:schemeClr val="tx2"/>
                  </a:solidFill>
                </a:rPr>
                <a:t>DBI</a:t>
              </a:r>
            </a:p>
          </p:txBody>
        </p:sp>
        <p:cxnSp>
          <p:nvCxnSpPr>
            <p:cNvPr id="252" name="Straight Arrow Connector 251">
              <a:extLst>
                <a:ext uri="{FF2B5EF4-FFF2-40B4-BE49-F238E27FC236}">
                  <a16:creationId xmlns:a16="http://schemas.microsoft.com/office/drawing/2014/main" id="{087AEFAF-2290-485D-912B-4B231B25C357}"/>
                </a:ext>
              </a:extLst>
            </p:cNvPr>
            <p:cNvCxnSpPr>
              <a:cxnSpLocks/>
            </p:cNvCxnSpPr>
            <p:nvPr/>
          </p:nvCxnSpPr>
          <p:spPr>
            <a:xfrm>
              <a:off x="4427975" y="1972716"/>
              <a:ext cx="362508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BC9EA28-E7C7-4245-8326-D4B36A41D27F}"/>
                </a:ext>
              </a:extLst>
            </p:cNvPr>
            <p:cNvSpPr txBox="1"/>
            <p:nvPr/>
          </p:nvSpPr>
          <p:spPr>
            <a:xfrm>
              <a:off x="309996" y="2864251"/>
              <a:ext cx="12260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dirty="0"/>
                <a:t>Movie x N cycle</a:t>
              </a:r>
              <a:endParaRPr kumimoji="1" lang="ja-JP" altLang="en-US" sz="1100" dirty="0"/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64BB5D1A-C8D9-4D32-88A3-198A6760DA23}"/>
                </a:ext>
              </a:extLst>
            </p:cNvPr>
            <p:cNvSpPr txBox="1"/>
            <p:nvPr/>
          </p:nvSpPr>
          <p:spPr>
            <a:xfrm>
              <a:off x="3323773" y="1290781"/>
              <a:ext cx="1036039" cy="507831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100" dirty="0"/>
                <a:t>Compensated</a:t>
              </a:r>
            </a:p>
            <a:p>
              <a:pPr algn="ctr"/>
              <a:r>
                <a:rPr kumimoji="1" lang="en-US" altLang="ja-JP" sz="1100" dirty="0"/>
                <a:t>Aging images  w/ Heat Map</a:t>
              </a:r>
              <a:endParaRPr kumimoji="1" lang="ja-JP" altLang="en-US" sz="1400" dirty="0"/>
            </a:p>
          </p:txBody>
        </p:sp>
        <p:cxnSp>
          <p:nvCxnSpPr>
            <p:cNvPr id="257" name="Straight Arrow Connector 256">
              <a:extLst>
                <a:ext uri="{FF2B5EF4-FFF2-40B4-BE49-F238E27FC236}">
                  <a16:creationId xmlns:a16="http://schemas.microsoft.com/office/drawing/2014/main" id="{F5712651-8411-416A-959D-A9A5E55A2C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6058" y="1972717"/>
              <a:ext cx="0" cy="56250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1C769DAD-4DE8-4563-AF88-D13679C503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6787" y="2523330"/>
              <a:ext cx="119271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E3CCF823-9268-41CF-9F23-1F03882FF3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0658" y="2093196"/>
              <a:ext cx="0" cy="314633"/>
            </a:xfrm>
            <a:prstGeom prst="straightConnector1">
              <a:avLst/>
            </a:prstGeom>
            <a:ln w="25400">
              <a:solidFill>
                <a:schemeClr val="accent5"/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A9C7247-0E6E-4776-87AB-46674E5960D0}"/>
                </a:ext>
              </a:extLst>
            </p:cNvPr>
            <p:cNvSpPr/>
            <p:nvPr/>
          </p:nvSpPr>
          <p:spPr>
            <a:xfrm>
              <a:off x="2172163" y="2366109"/>
              <a:ext cx="724624" cy="3038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2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3600" tIns="28800" rIns="3600" bIns="18000" rtlCol="0" anchor="ctr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n-US" sz="1100" dirty="0"/>
                <a:t>Heat Map gen</a:t>
              </a:r>
            </a:p>
          </p:txBody>
        </p: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1C3002BD-5EC3-4ADC-80F5-137EB6D1BC40}"/>
                </a:ext>
              </a:extLst>
            </p:cNvPr>
            <p:cNvCxnSpPr>
              <a:cxnSpLocks/>
            </p:cNvCxnSpPr>
            <p:nvPr/>
          </p:nvCxnSpPr>
          <p:spPr>
            <a:xfrm>
              <a:off x="2450658" y="2249270"/>
              <a:ext cx="873115" cy="0"/>
            </a:xfrm>
            <a:prstGeom prst="straightConnector1">
              <a:avLst/>
            </a:prstGeom>
            <a:ln w="25400">
              <a:solidFill>
                <a:schemeClr val="accent5"/>
              </a:solidFill>
              <a:prstDash val="solid"/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D4587D63-3CC9-4FC5-95B3-1AB33210FBAD}"/>
                </a:ext>
              </a:extLst>
            </p:cNvPr>
            <p:cNvCxnSpPr>
              <a:cxnSpLocks/>
            </p:cNvCxnSpPr>
            <p:nvPr/>
          </p:nvCxnSpPr>
          <p:spPr>
            <a:xfrm>
              <a:off x="1686538" y="2487013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2010EDD4-667E-45B7-BA6B-994E176391AD}"/>
                </a:ext>
              </a:extLst>
            </p:cNvPr>
            <p:cNvSpPr txBox="1"/>
            <p:nvPr/>
          </p:nvSpPr>
          <p:spPr>
            <a:xfrm>
              <a:off x="4346475" y="3326237"/>
              <a:ext cx="2016876" cy="21544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accent1"/>
                  </a:solidFill>
                </a:rPr>
                <a:t>w/o DBI compensation</a:t>
              </a:r>
              <a:endParaRPr kumimoji="1" lang="ja-JP" alt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F082635C-F264-4BE3-AF22-A2F2C8A44C26}"/>
                </a:ext>
              </a:extLst>
            </p:cNvPr>
            <p:cNvCxnSpPr>
              <a:cxnSpLocks/>
            </p:cNvCxnSpPr>
            <p:nvPr/>
          </p:nvCxnSpPr>
          <p:spPr>
            <a:xfrm>
              <a:off x="5336559" y="1466238"/>
              <a:ext cx="0" cy="174057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BEA86CD8-E023-4B98-B038-2980DBA29469}"/>
                </a:ext>
              </a:extLst>
            </p:cNvPr>
            <p:cNvSpPr txBox="1"/>
            <p:nvPr/>
          </p:nvSpPr>
          <p:spPr>
            <a:xfrm>
              <a:off x="4571342" y="2322991"/>
              <a:ext cx="15744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/>
                <a:t>Sim. acceleration setting</a:t>
              </a:r>
              <a:endParaRPr kumimoji="1" lang="ja-JP" altLang="en-US" sz="1000" dirty="0"/>
            </a:p>
          </p:txBody>
        </p:sp>
        <p:cxnSp>
          <p:nvCxnSpPr>
            <p:cNvPr id="265" name="Straight Arrow Connector 264">
              <a:extLst>
                <a:ext uri="{FF2B5EF4-FFF2-40B4-BE49-F238E27FC236}">
                  <a16:creationId xmlns:a16="http://schemas.microsoft.com/office/drawing/2014/main" id="{2385D5AF-880E-4814-BC74-5E5CFBE74D2F}"/>
                </a:ext>
              </a:extLst>
            </p:cNvPr>
            <p:cNvCxnSpPr>
              <a:cxnSpLocks/>
            </p:cNvCxnSpPr>
            <p:nvPr/>
          </p:nvCxnSpPr>
          <p:spPr>
            <a:xfrm>
              <a:off x="5336559" y="2529563"/>
              <a:ext cx="0" cy="174057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618F59C-A491-48EB-B4A4-53479160B0D2}"/>
              </a:ext>
            </a:extLst>
          </p:cNvPr>
          <p:cNvGrpSpPr/>
          <p:nvPr/>
        </p:nvGrpSpPr>
        <p:grpSpPr>
          <a:xfrm>
            <a:off x="6355052" y="1213515"/>
            <a:ext cx="5229141" cy="2189661"/>
            <a:chOff x="3383596" y="4242505"/>
            <a:chExt cx="5229141" cy="2189661"/>
          </a:xfrm>
        </p:grpSpPr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6B06DC51-0F9F-4ECF-9236-C53F7AFEE320}"/>
                </a:ext>
              </a:extLst>
            </p:cNvPr>
            <p:cNvSpPr txBox="1"/>
            <p:nvPr/>
          </p:nvSpPr>
          <p:spPr>
            <a:xfrm>
              <a:off x="3383596" y="4750336"/>
              <a:ext cx="1021337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100" dirty="0"/>
                <a:t>Test images</a:t>
              </a:r>
            </a:p>
            <a:p>
              <a:pPr algn="ctr"/>
              <a:r>
                <a:rPr kumimoji="1" lang="en-US" altLang="ja-JP" sz="1100" dirty="0"/>
                <a:t>With Heat Map</a:t>
              </a:r>
              <a:endParaRPr kumimoji="1" lang="ja-JP" altLang="en-US" sz="1400" dirty="0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6C5321B4-DEAA-42D7-8E35-31157C0A9EF8}"/>
                </a:ext>
              </a:extLst>
            </p:cNvPr>
            <p:cNvSpPr/>
            <p:nvPr/>
          </p:nvSpPr>
          <p:spPr>
            <a:xfrm>
              <a:off x="3652738" y="5168889"/>
              <a:ext cx="375824" cy="4016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620E29D3-5125-4218-B7C7-1AC0BBDD556F}"/>
                </a:ext>
              </a:extLst>
            </p:cNvPr>
            <p:cNvSpPr/>
            <p:nvPr/>
          </p:nvSpPr>
          <p:spPr>
            <a:xfrm>
              <a:off x="6087620" y="4811854"/>
              <a:ext cx="375824" cy="401622"/>
            </a:xfrm>
            <a:prstGeom prst="rect">
              <a:avLst/>
            </a:prstGeom>
            <a:gradFill>
              <a:gsLst>
                <a:gs pos="16000">
                  <a:srgbClr val="FFFFFF"/>
                </a:gs>
                <a:gs pos="85000">
                  <a:schemeClr val="accent6">
                    <a:lumMod val="40000"/>
                    <a:lumOff val="60000"/>
                  </a:schemeClr>
                </a:gs>
              </a:gsLst>
              <a:lin ang="16200000" scaled="1"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66" name="Rectangle: Rounded Corners 265">
              <a:extLst>
                <a:ext uri="{FF2B5EF4-FFF2-40B4-BE49-F238E27FC236}">
                  <a16:creationId xmlns:a16="http://schemas.microsoft.com/office/drawing/2014/main" id="{D0C943EC-2D24-4CF7-9F20-7C7958B303A2}"/>
                </a:ext>
              </a:extLst>
            </p:cNvPr>
            <p:cNvSpPr/>
            <p:nvPr/>
          </p:nvSpPr>
          <p:spPr>
            <a:xfrm>
              <a:off x="6908400" y="5605395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sp>
          <p:nvSpPr>
            <p:cNvPr id="267" name="Rectangle: Rounded Corners 266">
              <a:extLst>
                <a:ext uri="{FF2B5EF4-FFF2-40B4-BE49-F238E27FC236}">
                  <a16:creationId xmlns:a16="http://schemas.microsoft.com/office/drawing/2014/main" id="{5395AC14-8736-491A-A5B0-76A56EAA8F63}"/>
                </a:ext>
              </a:extLst>
            </p:cNvPr>
            <p:cNvSpPr/>
            <p:nvPr/>
          </p:nvSpPr>
          <p:spPr>
            <a:xfrm>
              <a:off x="6908400" y="4540305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D220C1B8-4963-4F0C-B232-98AD3B3478A5}"/>
                </a:ext>
              </a:extLst>
            </p:cNvPr>
            <p:cNvCxnSpPr>
              <a:cxnSpLocks/>
            </p:cNvCxnSpPr>
            <p:nvPr/>
          </p:nvCxnSpPr>
          <p:spPr>
            <a:xfrm>
              <a:off x="4101592" y="5361233"/>
              <a:ext cx="262612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Arrow Connector 276">
              <a:extLst>
                <a:ext uri="{FF2B5EF4-FFF2-40B4-BE49-F238E27FC236}">
                  <a16:creationId xmlns:a16="http://schemas.microsoft.com/office/drawing/2014/main" id="{A7234484-04F0-4DE0-B16F-DBC985641C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4204" y="4863201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Arrow Connector 277">
              <a:extLst>
                <a:ext uri="{FF2B5EF4-FFF2-40B4-BE49-F238E27FC236}">
                  <a16:creationId xmlns:a16="http://schemas.microsoft.com/office/drawing/2014/main" id="{92B2ABC8-E44F-4CD9-980E-FE1FED5E21A8}"/>
                </a:ext>
              </a:extLst>
            </p:cNvPr>
            <p:cNvCxnSpPr>
              <a:cxnSpLocks/>
            </p:cNvCxnSpPr>
            <p:nvPr/>
          </p:nvCxnSpPr>
          <p:spPr>
            <a:xfrm>
              <a:off x="4456642" y="4863201"/>
              <a:ext cx="1521775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90D8A65A-9F7B-40E7-87B8-C0E39D1FCD80}"/>
                </a:ext>
              </a:extLst>
            </p:cNvPr>
            <p:cNvCxnSpPr>
              <a:cxnSpLocks/>
            </p:cNvCxnSpPr>
            <p:nvPr/>
          </p:nvCxnSpPr>
          <p:spPr>
            <a:xfrm>
              <a:off x="4467505" y="5873318"/>
              <a:ext cx="2417520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BDFBA523-BDEC-426F-8188-6D65183C10B9}"/>
                </a:ext>
              </a:extLst>
            </p:cNvPr>
            <p:cNvSpPr/>
            <p:nvPr/>
          </p:nvSpPr>
          <p:spPr>
            <a:xfrm>
              <a:off x="4719254" y="4609238"/>
              <a:ext cx="668756" cy="374443"/>
            </a:xfrm>
            <a:prstGeom prst="rect">
              <a:avLst/>
            </a:prstGeom>
            <a:solidFill>
              <a:srgbClr val="0070C0"/>
            </a:solidFill>
            <a:ln w="25400">
              <a:solidFill>
                <a:schemeClr val="tx2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1600" dirty="0">
                  <a:solidFill>
                    <a:schemeClr val="tx2"/>
                  </a:solidFill>
                </a:rPr>
                <a:t>DBI</a:t>
              </a:r>
            </a:p>
          </p:txBody>
        </p: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5BBFC714-54A5-49CB-95A4-370E30B54265}"/>
                </a:ext>
              </a:extLst>
            </p:cNvPr>
            <p:cNvCxnSpPr>
              <a:cxnSpLocks/>
            </p:cNvCxnSpPr>
            <p:nvPr/>
          </p:nvCxnSpPr>
          <p:spPr>
            <a:xfrm>
              <a:off x="6522517" y="4878441"/>
              <a:ext cx="362508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9583B007-E35E-47BE-8B62-6A2A9720F53F}"/>
                </a:ext>
              </a:extLst>
            </p:cNvPr>
            <p:cNvSpPr txBox="1"/>
            <p:nvPr/>
          </p:nvSpPr>
          <p:spPr>
            <a:xfrm>
              <a:off x="5659300" y="4242505"/>
              <a:ext cx="900639" cy="507831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kumimoji="1" lang="en-US" altLang="ja-JP" sz="1100" dirty="0"/>
                <a:t>Compensated</a:t>
              </a:r>
            </a:p>
            <a:p>
              <a:r>
                <a:rPr kumimoji="1" lang="en-US" altLang="ja-JP" sz="1100" dirty="0"/>
                <a:t>images  </a:t>
              </a:r>
            </a:p>
            <a:p>
              <a:r>
                <a:rPr kumimoji="1" lang="en-US" altLang="ja-JP" sz="1100" dirty="0"/>
                <a:t>w/ Heat Map</a:t>
              </a:r>
              <a:endParaRPr kumimoji="1" lang="ja-JP" altLang="en-US" sz="1400" dirty="0"/>
            </a:p>
          </p:txBody>
        </p: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9F62E062-2665-4AA1-8E48-ECC8239443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8957" y="4863202"/>
              <a:ext cx="0" cy="56250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3DA825DA-8389-4D8F-8DCF-7A33656B16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79686" y="5413815"/>
              <a:ext cx="119271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3731671-A1E8-43A8-92AF-EE165016B3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3557" y="4983681"/>
              <a:ext cx="0" cy="314633"/>
            </a:xfrm>
            <a:prstGeom prst="straightConnector1">
              <a:avLst/>
            </a:prstGeom>
            <a:ln w="25400">
              <a:solidFill>
                <a:schemeClr val="accent5"/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A6908734-FE83-4B30-9B74-97A33E1C6F20}"/>
                </a:ext>
              </a:extLst>
            </p:cNvPr>
            <p:cNvSpPr/>
            <p:nvPr/>
          </p:nvSpPr>
          <p:spPr>
            <a:xfrm>
              <a:off x="4855062" y="5256594"/>
              <a:ext cx="724624" cy="3038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2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3600" tIns="28800" rIns="3600" bIns="18000" rtlCol="0" anchor="ctr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n-US" sz="1100" dirty="0"/>
                <a:t>Heat Map gen</a:t>
              </a:r>
            </a:p>
          </p:txBody>
        </p: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38B3160E-E368-4184-AC8D-E3D9F7D12B08}"/>
                </a:ext>
              </a:extLst>
            </p:cNvPr>
            <p:cNvCxnSpPr>
              <a:cxnSpLocks/>
            </p:cNvCxnSpPr>
            <p:nvPr/>
          </p:nvCxnSpPr>
          <p:spPr>
            <a:xfrm>
              <a:off x="5133557" y="5139755"/>
              <a:ext cx="873115" cy="0"/>
            </a:xfrm>
            <a:prstGeom prst="straightConnector1">
              <a:avLst/>
            </a:prstGeom>
            <a:ln w="25400">
              <a:solidFill>
                <a:schemeClr val="accent5"/>
              </a:solidFill>
              <a:prstDash val="solid"/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4EEBA1D9-E40D-4032-A54D-61C41BD5D408}"/>
                </a:ext>
              </a:extLst>
            </p:cNvPr>
            <p:cNvCxnSpPr>
              <a:cxnSpLocks/>
            </p:cNvCxnSpPr>
            <p:nvPr/>
          </p:nvCxnSpPr>
          <p:spPr>
            <a:xfrm>
              <a:off x="4369437" y="5377498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42951FBC-F228-4DDA-B90C-546AC7A44F8A}"/>
                </a:ext>
              </a:extLst>
            </p:cNvPr>
            <p:cNvSpPr txBox="1"/>
            <p:nvPr/>
          </p:nvSpPr>
          <p:spPr>
            <a:xfrm>
              <a:off x="6319998" y="6216722"/>
              <a:ext cx="2016876" cy="21544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accent1"/>
                  </a:solidFill>
                </a:rPr>
                <a:t>w/o DBI compensation</a:t>
              </a:r>
              <a:endParaRPr kumimoji="1" lang="ja-JP" alt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293" name="Straight Arrow Connector 292">
              <a:extLst>
                <a:ext uri="{FF2B5EF4-FFF2-40B4-BE49-F238E27FC236}">
                  <a16:creationId xmlns:a16="http://schemas.microsoft.com/office/drawing/2014/main" id="{694D3817-1AFF-48CB-9CC6-B3215D6A4C4C}"/>
                </a:ext>
              </a:extLst>
            </p:cNvPr>
            <p:cNvCxnSpPr>
              <a:cxnSpLocks/>
            </p:cNvCxnSpPr>
            <p:nvPr/>
          </p:nvCxnSpPr>
          <p:spPr>
            <a:xfrm>
              <a:off x="7955708" y="4863202"/>
              <a:ext cx="248036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D9AFECB5-99AB-4B2E-BA05-C5DDBDAAC1EB}"/>
                </a:ext>
              </a:extLst>
            </p:cNvPr>
            <p:cNvCxnSpPr>
              <a:cxnSpLocks/>
            </p:cNvCxnSpPr>
            <p:nvPr/>
          </p:nvCxnSpPr>
          <p:spPr>
            <a:xfrm>
              <a:off x="7949913" y="5873318"/>
              <a:ext cx="253831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3A0F4920-C839-4C6C-8270-00C5897B21CC}"/>
                </a:ext>
              </a:extLst>
            </p:cNvPr>
            <p:cNvSpPr/>
            <p:nvPr/>
          </p:nvSpPr>
          <p:spPr>
            <a:xfrm>
              <a:off x="8236913" y="5674719"/>
              <a:ext cx="375824" cy="401622"/>
            </a:xfrm>
            <a:prstGeom prst="rect">
              <a:avLst/>
            </a:prstGeom>
            <a:gradFill>
              <a:gsLst>
                <a:gs pos="16000">
                  <a:srgbClr val="FFFFFF"/>
                </a:gs>
                <a:gs pos="85000">
                  <a:schemeClr val="accent4">
                    <a:lumMod val="20000"/>
                    <a:lumOff val="80000"/>
                  </a:schemeClr>
                </a:gs>
              </a:gsLst>
              <a:lin ang="16200000" scaled="1"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023E58EF-37F0-4395-924B-7AB36630734F}"/>
                </a:ext>
              </a:extLst>
            </p:cNvPr>
            <p:cNvSpPr/>
            <p:nvPr/>
          </p:nvSpPr>
          <p:spPr>
            <a:xfrm>
              <a:off x="8234998" y="4697370"/>
              <a:ext cx="375824" cy="4016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800" dirty="0"/>
            </a:p>
          </p:txBody>
        </p:sp>
      </p:grp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2650220F-5F13-4A06-916D-13F9F0470076}"/>
              </a:ext>
            </a:extLst>
          </p:cNvPr>
          <p:cNvSpPr/>
          <p:nvPr/>
        </p:nvSpPr>
        <p:spPr>
          <a:xfrm>
            <a:off x="6149207" y="2067895"/>
            <a:ext cx="228366" cy="493466"/>
          </a:xfrm>
          <a:prstGeom prst="stripedRightArrow">
            <a:avLst>
              <a:gd name="adj1" fmla="val 57442"/>
              <a:gd name="adj2" fmla="val 50000"/>
            </a:avLst>
          </a:prstGeom>
          <a:solidFill>
            <a:srgbClr val="9C5BCD"/>
          </a:solidFill>
          <a:ln>
            <a:noFill/>
            <a:prstDash val="solid"/>
            <a:tailEnd type="non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C1175B3-F207-4735-8CED-A6C348BACCD5}"/>
              </a:ext>
            </a:extLst>
          </p:cNvPr>
          <p:cNvCxnSpPr/>
          <p:nvPr/>
        </p:nvCxnSpPr>
        <p:spPr>
          <a:xfrm>
            <a:off x="366420" y="3632200"/>
            <a:ext cx="11582148" cy="0"/>
          </a:xfrm>
          <a:prstGeom prst="line">
            <a:avLst/>
          </a:prstGeom>
          <a:ln>
            <a:solidFill>
              <a:schemeClr val="tx2">
                <a:lumMod val="65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F7FFEA6E-27E7-42CE-BF1E-EA3F783E2695}"/>
              </a:ext>
            </a:extLst>
          </p:cNvPr>
          <p:cNvSpPr/>
          <p:nvPr/>
        </p:nvSpPr>
        <p:spPr>
          <a:xfrm>
            <a:off x="11089480" y="1450953"/>
            <a:ext cx="648822" cy="1787547"/>
          </a:xfrm>
          <a:prstGeom prst="ellipse">
            <a:avLst/>
          </a:prstGeom>
          <a:ln w="12700">
            <a:solidFill>
              <a:schemeClr val="accent1"/>
            </a:solidFill>
            <a:prstDash val="sysDot"/>
            <a:tailEnd type="none"/>
          </a:ln>
          <a:effectLst>
            <a:glow rad="63500">
              <a:schemeClr val="accent4">
                <a:lumMod val="40000"/>
                <a:lumOff val="60000"/>
                <a:alpha val="7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735D6A81-DD53-46D5-A28D-83B185B90227}"/>
              </a:ext>
            </a:extLst>
          </p:cNvPr>
          <p:cNvSpPr/>
          <p:nvPr/>
        </p:nvSpPr>
        <p:spPr>
          <a:xfrm>
            <a:off x="10315138" y="722774"/>
            <a:ext cx="17384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PQ comparison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55A9D7B-3E05-490F-A593-C71C6C58799C}"/>
              </a:ext>
            </a:extLst>
          </p:cNvPr>
          <p:cNvCxnSpPr>
            <a:cxnSpLocks/>
          </p:cNvCxnSpPr>
          <p:nvPr/>
        </p:nvCxnSpPr>
        <p:spPr>
          <a:xfrm>
            <a:off x="11396159" y="1061328"/>
            <a:ext cx="0" cy="363015"/>
          </a:xfrm>
          <a:prstGeom prst="straightConnector1">
            <a:avLst/>
          </a:prstGeom>
          <a:ln w="381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3A738E42-773E-47DE-885D-FBC0D323C31D}"/>
              </a:ext>
            </a:extLst>
          </p:cNvPr>
          <p:cNvGrpSpPr/>
          <p:nvPr/>
        </p:nvGrpSpPr>
        <p:grpSpPr>
          <a:xfrm>
            <a:off x="524949" y="4092411"/>
            <a:ext cx="6068758" cy="2282015"/>
            <a:chOff x="294593" y="1259666"/>
            <a:chExt cx="6068758" cy="2282015"/>
          </a:xfrm>
        </p:grpSpPr>
        <p:sp>
          <p:nvSpPr>
            <p:cNvPr id="366" name="Rectangle: Rounded Corners 365">
              <a:extLst>
                <a:ext uri="{FF2B5EF4-FFF2-40B4-BE49-F238E27FC236}">
                  <a16:creationId xmlns:a16="http://schemas.microsoft.com/office/drawing/2014/main" id="{7F438898-4A93-4E4C-AB5A-9443AA22C994}"/>
                </a:ext>
              </a:extLst>
            </p:cNvPr>
            <p:cNvSpPr/>
            <p:nvPr/>
          </p:nvSpPr>
          <p:spPr>
            <a:xfrm>
              <a:off x="4847909" y="2714910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sp>
          <p:nvSpPr>
            <p:cNvPr id="367" name="Rectangle: Rounded Corners 366">
              <a:extLst>
                <a:ext uri="{FF2B5EF4-FFF2-40B4-BE49-F238E27FC236}">
                  <a16:creationId xmlns:a16="http://schemas.microsoft.com/office/drawing/2014/main" id="{74DF1869-6BE5-450B-96F0-48BFDD1C93A8}"/>
                </a:ext>
              </a:extLst>
            </p:cNvPr>
            <p:cNvSpPr/>
            <p:nvPr/>
          </p:nvSpPr>
          <p:spPr>
            <a:xfrm>
              <a:off x="4847909" y="1649820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08F5029F-A787-4BA9-9556-62E0CD7EF6B2}"/>
                </a:ext>
              </a:extLst>
            </p:cNvPr>
            <p:cNvGrpSpPr/>
            <p:nvPr/>
          </p:nvGrpSpPr>
          <p:grpSpPr>
            <a:xfrm>
              <a:off x="309996" y="2192640"/>
              <a:ext cx="1010628" cy="598568"/>
              <a:chOff x="524073" y="4786103"/>
              <a:chExt cx="791658" cy="516314"/>
            </a:xfrm>
          </p:grpSpPr>
          <p:sp>
            <p:nvSpPr>
              <p:cNvPr id="396" name="Flowchart: Data 395">
                <a:extLst>
                  <a:ext uri="{FF2B5EF4-FFF2-40B4-BE49-F238E27FC236}">
                    <a16:creationId xmlns:a16="http://schemas.microsoft.com/office/drawing/2014/main" id="{AA34FF80-F787-43D0-9443-986EE5FD7814}"/>
                  </a:ext>
                </a:extLst>
              </p:cNvPr>
              <p:cNvSpPr/>
              <p:nvPr/>
            </p:nvSpPr>
            <p:spPr>
              <a:xfrm rot="5400000" flipH="1" flipV="1">
                <a:off x="966126" y="4952811"/>
                <a:ext cx="516314" cy="182897"/>
              </a:xfrm>
              <a:prstGeom prst="flowChartInputOutput">
                <a:avLst/>
              </a:prstGeom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Flowchart: Data 396">
                <a:extLst>
                  <a:ext uri="{FF2B5EF4-FFF2-40B4-BE49-F238E27FC236}">
                    <a16:creationId xmlns:a16="http://schemas.microsoft.com/office/drawing/2014/main" id="{0B3E0679-01AC-4945-9C09-9299B06DC315}"/>
                  </a:ext>
                </a:extLst>
              </p:cNvPr>
              <p:cNvSpPr/>
              <p:nvPr/>
            </p:nvSpPr>
            <p:spPr>
              <a:xfrm rot="5400000" flipH="1" flipV="1">
                <a:off x="671431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Flowchart: Data 397">
                <a:extLst>
                  <a:ext uri="{FF2B5EF4-FFF2-40B4-BE49-F238E27FC236}">
                    <a16:creationId xmlns:a16="http://schemas.microsoft.com/office/drawing/2014/main" id="{9029B03F-EA26-408F-8C92-F816401DE0EB}"/>
                  </a:ext>
                </a:extLst>
              </p:cNvPr>
              <p:cNvSpPr/>
              <p:nvPr/>
            </p:nvSpPr>
            <p:spPr>
              <a:xfrm rot="5400000" flipH="1" flipV="1">
                <a:off x="560886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Flowchart: Data 398">
                <a:extLst>
                  <a:ext uri="{FF2B5EF4-FFF2-40B4-BE49-F238E27FC236}">
                    <a16:creationId xmlns:a16="http://schemas.microsoft.com/office/drawing/2014/main" id="{464615DB-EB9A-4D23-BF39-D68A0E38F3F8}"/>
                  </a:ext>
                </a:extLst>
              </p:cNvPr>
              <p:cNvSpPr/>
              <p:nvPr/>
            </p:nvSpPr>
            <p:spPr>
              <a:xfrm rot="5400000" flipH="1" flipV="1">
                <a:off x="450341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Flowchart: Data 399">
                <a:extLst>
                  <a:ext uri="{FF2B5EF4-FFF2-40B4-BE49-F238E27FC236}">
                    <a16:creationId xmlns:a16="http://schemas.microsoft.com/office/drawing/2014/main" id="{B66A7C50-E0A1-4518-B50E-911744E8FC9E}"/>
                  </a:ext>
                </a:extLst>
              </p:cNvPr>
              <p:cNvSpPr/>
              <p:nvPr/>
            </p:nvSpPr>
            <p:spPr>
              <a:xfrm rot="5400000" flipH="1" flipV="1">
                <a:off x="357365" y="4952811"/>
                <a:ext cx="516314" cy="182897"/>
              </a:xfrm>
              <a:prstGeom prst="flowChartInputOutpu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TextBox 400">
                <a:extLst>
                  <a:ext uri="{FF2B5EF4-FFF2-40B4-BE49-F238E27FC236}">
                    <a16:creationId xmlns:a16="http://schemas.microsoft.com/office/drawing/2014/main" id="{21CAABB6-47C7-49EC-AF63-FAAF96BAED9C}"/>
                  </a:ext>
                </a:extLst>
              </p:cNvPr>
              <p:cNvSpPr txBox="1"/>
              <p:nvPr/>
            </p:nvSpPr>
            <p:spPr>
              <a:xfrm>
                <a:off x="925088" y="4862938"/>
                <a:ext cx="375168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en-US" altLang="ja-JP" sz="1200" dirty="0"/>
                  <a:t>…</a:t>
                </a:r>
                <a:endParaRPr kumimoji="1" lang="ja-JP" altLang="en-US" sz="1600" dirty="0"/>
              </a:p>
            </p:txBody>
          </p:sp>
        </p:grp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4200AC95-7D7D-4604-93EF-716893AC8E05}"/>
                </a:ext>
              </a:extLst>
            </p:cNvPr>
            <p:cNvSpPr txBox="1"/>
            <p:nvPr/>
          </p:nvSpPr>
          <p:spPr>
            <a:xfrm>
              <a:off x="294593" y="1729347"/>
              <a:ext cx="1036039" cy="33855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100" dirty="0"/>
                <a:t>Aging images with Heat Map</a:t>
              </a:r>
              <a:endParaRPr kumimoji="1" lang="ja-JP" altLang="en-US" sz="1400" dirty="0"/>
            </a:p>
          </p:txBody>
        </p:sp>
        <p:grpSp>
          <p:nvGrpSpPr>
            <p:cNvPr id="370" name="Group 369">
              <a:extLst>
                <a:ext uri="{FF2B5EF4-FFF2-40B4-BE49-F238E27FC236}">
                  <a16:creationId xmlns:a16="http://schemas.microsoft.com/office/drawing/2014/main" id="{29F8154B-DF5B-43F0-A93F-72BCD4BD196F}"/>
                </a:ext>
              </a:extLst>
            </p:cNvPr>
            <p:cNvGrpSpPr/>
            <p:nvPr/>
          </p:nvGrpSpPr>
          <p:grpSpPr>
            <a:xfrm>
              <a:off x="3355603" y="1849897"/>
              <a:ext cx="1010628" cy="598568"/>
              <a:chOff x="524073" y="4786103"/>
              <a:chExt cx="791658" cy="516314"/>
            </a:xfrm>
          </p:grpSpPr>
          <p:sp>
            <p:nvSpPr>
              <p:cNvPr id="390" name="Flowchart: Data 389">
                <a:extLst>
                  <a:ext uri="{FF2B5EF4-FFF2-40B4-BE49-F238E27FC236}">
                    <a16:creationId xmlns:a16="http://schemas.microsoft.com/office/drawing/2014/main" id="{131EAB6B-42CF-41CD-9812-5FA3426E8C35}"/>
                  </a:ext>
                </a:extLst>
              </p:cNvPr>
              <p:cNvSpPr/>
              <p:nvPr/>
            </p:nvSpPr>
            <p:spPr>
              <a:xfrm rot="5400000" flipH="1" flipV="1">
                <a:off x="966126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Flowchart: Data 390">
                <a:extLst>
                  <a:ext uri="{FF2B5EF4-FFF2-40B4-BE49-F238E27FC236}">
                    <a16:creationId xmlns:a16="http://schemas.microsoft.com/office/drawing/2014/main" id="{DF1F7A9D-72FE-4BD7-ADFD-DE1CB286F14F}"/>
                  </a:ext>
                </a:extLst>
              </p:cNvPr>
              <p:cNvSpPr/>
              <p:nvPr/>
            </p:nvSpPr>
            <p:spPr>
              <a:xfrm rot="5400000" flipH="1" flipV="1">
                <a:off x="671431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Flowchart: Data 391">
                <a:extLst>
                  <a:ext uri="{FF2B5EF4-FFF2-40B4-BE49-F238E27FC236}">
                    <a16:creationId xmlns:a16="http://schemas.microsoft.com/office/drawing/2014/main" id="{3E7E99B7-F9E6-4447-BF84-3B21F99CCC64}"/>
                  </a:ext>
                </a:extLst>
              </p:cNvPr>
              <p:cNvSpPr/>
              <p:nvPr/>
            </p:nvSpPr>
            <p:spPr>
              <a:xfrm rot="5400000" flipH="1" flipV="1">
                <a:off x="560886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Flowchart: Data 392">
                <a:extLst>
                  <a:ext uri="{FF2B5EF4-FFF2-40B4-BE49-F238E27FC236}">
                    <a16:creationId xmlns:a16="http://schemas.microsoft.com/office/drawing/2014/main" id="{84E96D9C-55AE-4829-BF5B-E20A0CCDC925}"/>
                  </a:ext>
                </a:extLst>
              </p:cNvPr>
              <p:cNvSpPr/>
              <p:nvPr/>
            </p:nvSpPr>
            <p:spPr>
              <a:xfrm rot="5400000" flipH="1" flipV="1">
                <a:off x="450341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Flowchart: Data 393">
                <a:extLst>
                  <a:ext uri="{FF2B5EF4-FFF2-40B4-BE49-F238E27FC236}">
                    <a16:creationId xmlns:a16="http://schemas.microsoft.com/office/drawing/2014/main" id="{BBEA8F54-EB81-440F-9F3D-4907666A4D07}"/>
                  </a:ext>
                </a:extLst>
              </p:cNvPr>
              <p:cNvSpPr/>
              <p:nvPr/>
            </p:nvSpPr>
            <p:spPr>
              <a:xfrm rot="5400000" flipH="1" flipV="1">
                <a:off x="357365" y="4952811"/>
                <a:ext cx="516314" cy="182897"/>
              </a:xfrm>
              <a:prstGeom prst="flowChartInputOutpu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TextBox 394">
                <a:extLst>
                  <a:ext uri="{FF2B5EF4-FFF2-40B4-BE49-F238E27FC236}">
                    <a16:creationId xmlns:a16="http://schemas.microsoft.com/office/drawing/2014/main" id="{5424ED12-0A94-4760-AF23-942C268BBB54}"/>
                  </a:ext>
                </a:extLst>
              </p:cNvPr>
              <p:cNvSpPr txBox="1"/>
              <p:nvPr/>
            </p:nvSpPr>
            <p:spPr>
              <a:xfrm>
                <a:off x="925088" y="4862938"/>
                <a:ext cx="375168" cy="276999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kumimoji="1" lang="en-US" altLang="ja-JP" sz="1200" dirty="0"/>
                  <a:t>…</a:t>
                </a:r>
                <a:endParaRPr kumimoji="1" lang="ja-JP" altLang="en-US" sz="1600" dirty="0"/>
              </a:p>
            </p:txBody>
          </p:sp>
        </p:grpSp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BD5BE312-807E-4E76-A753-3154D82268C4}"/>
                </a:ext>
              </a:extLst>
            </p:cNvPr>
            <p:cNvSpPr txBox="1"/>
            <p:nvPr/>
          </p:nvSpPr>
          <p:spPr>
            <a:xfrm>
              <a:off x="4571342" y="1259666"/>
              <a:ext cx="15744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/>
                <a:t>Sim. acceleration setting</a:t>
              </a:r>
              <a:endParaRPr kumimoji="1" lang="ja-JP" altLang="en-US" sz="1000" dirty="0"/>
            </a:p>
          </p:txBody>
        </p:sp>
        <p:cxnSp>
          <p:nvCxnSpPr>
            <p:cNvPr id="372" name="Straight Arrow Connector 371">
              <a:extLst>
                <a:ext uri="{FF2B5EF4-FFF2-40B4-BE49-F238E27FC236}">
                  <a16:creationId xmlns:a16="http://schemas.microsoft.com/office/drawing/2014/main" id="{1072E6FB-FD2C-442F-AEE0-64A6C4307F4A}"/>
                </a:ext>
              </a:extLst>
            </p:cNvPr>
            <p:cNvCxnSpPr>
              <a:cxnSpLocks/>
            </p:cNvCxnSpPr>
            <p:nvPr/>
          </p:nvCxnSpPr>
          <p:spPr>
            <a:xfrm>
              <a:off x="1418693" y="2470748"/>
              <a:ext cx="262612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Arrow Connector 372">
              <a:extLst>
                <a:ext uri="{FF2B5EF4-FFF2-40B4-BE49-F238E27FC236}">
                  <a16:creationId xmlns:a16="http://schemas.microsoft.com/office/drawing/2014/main" id="{6CEEF053-7837-4329-87B8-19398A675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1305" y="1972716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Arrow Connector 373">
              <a:extLst>
                <a:ext uri="{FF2B5EF4-FFF2-40B4-BE49-F238E27FC236}">
                  <a16:creationId xmlns:a16="http://schemas.microsoft.com/office/drawing/2014/main" id="{B1E6DEAA-EE64-4708-8CE0-4A9EB8F36CF3}"/>
                </a:ext>
              </a:extLst>
            </p:cNvPr>
            <p:cNvCxnSpPr>
              <a:cxnSpLocks/>
            </p:cNvCxnSpPr>
            <p:nvPr/>
          </p:nvCxnSpPr>
          <p:spPr>
            <a:xfrm>
              <a:off x="1773743" y="1972716"/>
              <a:ext cx="1521775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2B3FC505-E9D5-45DE-A786-7DD125EBB169}"/>
                </a:ext>
              </a:extLst>
            </p:cNvPr>
            <p:cNvCxnSpPr>
              <a:cxnSpLocks/>
            </p:cNvCxnSpPr>
            <p:nvPr/>
          </p:nvCxnSpPr>
          <p:spPr>
            <a:xfrm>
              <a:off x="1768400" y="2982833"/>
              <a:ext cx="3040555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6" name="Rectangle 375">
              <a:extLst>
                <a:ext uri="{FF2B5EF4-FFF2-40B4-BE49-F238E27FC236}">
                  <a16:creationId xmlns:a16="http://schemas.microsoft.com/office/drawing/2014/main" id="{C0C9F63C-88C1-42C2-9035-8ECFA49DDB81}"/>
                </a:ext>
              </a:extLst>
            </p:cNvPr>
            <p:cNvSpPr/>
            <p:nvPr/>
          </p:nvSpPr>
          <p:spPr>
            <a:xfrm>
              <a:off x="2036355" y="1718753"/>
              <a:ext cx="668756" cy="37444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2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sz="1600" dirty="0">
                  <a:solidFill>
                    <a:schemeClr val="tx2"/>
                  </a:solidFill>
                </a:rPr>
                <a:t>BIP</a:t>
              </a:r>
            </a:p>
          </p:txBody>
        </p:sp>
        <p:cxnSp>
          <p:nvCxnSpPr>
            <p:cNvPr id="377" name="Straight Arrow Connector 376">
              <a:extLst>
                <a:ext uri="{FF2B5EF4-FFF2-40B4-BE49-F238E27FC236}">
                  <a16:creationId xmlns:a16="http://schemas.microsoft.com/office/drawing/2014/main" id="{13BADE6D-3FA0-47FD-A499-02C9B9FF7FEC}"/>
                </a:ext>
              </a:extLst>
            </p:cNvPr>
            <p:cNvCxnSpPr>
              <a:cxnSpLocks/>
            </p:cNvCxnSpPr>
            <p:nvPr/>
          </p:nvCxnSpPr>
          <p:spPr>
            <a:xfrm>
              <a:off x="4427975" y="1972716"/>
              <a:ext cx="362508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542739C3-BB65-4B6C-9834-3F65480543F2}"/>
                </a:ext>
              </a:extLst>
            </p:cNvPr>
            <p:cNvSpPr txBox="1"/>
            <p:nvPr/>
          </p:nvSpPr>
          <p:spPr>
            <a:xfrm>
              <a:off x="309996" y="2864251"/>
              <a:ext cx="122608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000" dirty="0"/>
                <a:t>Movie x N cycle</a:t>
              </a:r>
              <a:endParaRPr kumimoji="1" lang="ja-JP" altLang="en-US" sz="1100" dirty="0"/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4A663176-B0AA-4635-BE4D-1385C126BCAD}"/>
                </a:ext>
              </a:extLst>
            </p:cNvPr>
            <p:cNvSpPr txBox="1"/>
            <p:nvPr/>
          </p:nvSpPr>
          <p:spPr>
            <a:xfrm>
              <a:off x="3323773" y="1290781"/>
              <a:ext cx="1036039" cy="507831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100" dirty="0"/>
                <a:t>Preventive</a:t>
              </a:r>
            </a:p>
            <a:p>
              <a:pPr algn="ctr"/>
              <a:r>
                <a:rPr kumimoji="1" lang="en-US" altLang="ja-JP" sz="1100" dirty="0"/>
                <a:t>Aging images  w/ Heat Map</a:t>
              </a:r>
              <a:endParaRPr kumimoji="1" lang="ja-JP" altLang="en-US" sz="1400" dirty="0"/>
            </a:p>
          </p:txBody>
        </p:sp>
        <p:cxnSp>
          <p:nvCxnSpPr>
            <p:cNvPr id="380" name="Straight Arrow Connector 379">
              <a:extLst>
                <a:ext uri="{FF2B5EF4-FFF2-40B4-BE49-F238E27FC236}">
                  <a16:creationId xmlns:a16="http://schemas.microsoft.com/office/drawing/2014/main" id="{4BBDA237-DA5F-4020-AF1E-A6CFB61988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6058" y="1972717"/>
              <a:ext cx="0" cy="56250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Arrow Connector 380">
              <a:extLst>
                <a:ext uri="{FF2B5EF4-FFF2-40B4-BE49-F238E27FC236}">
                  <a16:creationId xmlns:a16="http://schemas.microsoft.com/office/drawing/2014/main" id="{C1DFB6A0-DF97-4367-B01B-C52AB75F4B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96787" y="2523330"/>
              <a:ext cx="119271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Arrow Connector 381">
              <a:extLst>
                <a:ext uri="{FF2B5EF4-FFF2-40B4-BE49-F238E27FC236}">
                  <a16:creationId xmlns:a16="http://schemas.microsoft.com/office/drawing/2014/main" id="{102B46D6-451E-446D-A31E-5FD68B87D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0658" y="2242271"/>
              <a:ext cx="0" cy="165559"/>
            </a:xfrm>
            <a:prstGeom prst="straightConnector1">
              <a:avLst/>
            </a:prstGeom>
            <a:ln w="25400">
              <a:solidFill>
                <a:schemeClr val="accent5"/>
              </a:solidFill>
              <a:prstDash val="soli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382">
              <a:extLst>
                <a:ext uri="{FF2B5EF4-FFF2-40B4-BE49-F238E27FC236}">
                  <a16:creationId xmlns:a16="http://schemas.microsoft.com/office/drawing/2014/main" id="{DF00D1E2-9E9F-48AC-8AAC-94C89F2CFD68}"/>
                </a:ext>
              </a:extLst>
            </p:cNvPr>
            <p:cNvSpPr/>
            <p:nvPr/>
          </p:nvSpPr>
          <p:spPr>
            <a:xfrm>
              <a:off x="2172163" y="2366109"/>
              <a:ext cx="724624" cy="30380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chemeClr val="tx2">
                  <a:lumMod val="50000"/>
                </a:schemeClr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3600" tIns="28800" rIns="3600" bIns="18000" rtlCol="0" anchor="ctr">
              <a:spAutoFit/>
            </a:bodyPr>
            <a:lstStyle/>
            <a:p>
              <a:pPr algn="ctr">
                <a:lnSpc>
                  <a:spcPts val="1000"/>
                </a:lnSpc>
              </a:pPr>
              <a:r>
                <a:rPr lang="en-US" sz="1100" dirty="0"/>
                <a:t>Heat Map gen</a:t>
              </a:r>
            </a:p>
          </p:txBody>
        </p:sp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56850AFB-0449-49BE-B6A1-A4C603017A71}"/>
                </a:ext>
              </a:extLst>
            </p:cNvPr>
            <p:cNvCxnSpPr>
              <a:cxnSpLocks/>
            </p:cNvCxnSpPr>
            <p:nvPr/>
          </p:nvCxnSpPr>
          <p:spPr>
            <a:xfrm>
              <a:off x="2450658" y="2249270"/>
              <a:ext cx="873115" cy="0"/>
            </a:xfrm>
            <a:prstGeom prst="straightConnector1">
              <a:avLst/>
            </a:prstGeom>
            <a:ln w="25400">
              <a:solidFill>
                <a:schemeClr val="accent5"/>
              </a:solidFill>
              <a:prstDash val="solid"/>
              <a:headEnd type="none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Arrow Connector 384">
              <a:extLst>
                <a:ext uri="{FF2B5EF4-FFF2-40B4-BE49-F238E27FC236}">
                  <a16:creationId xmlns:a16="http://schemas.microsoft.com/office/drawing/2014/main" id="{1109B110-45A9-46BA-A87F-E0F6146BBE73}"/>
                </a:ext>
              </a:extLst>
            </p:cNvPr>
            <p:cNvCxnSpPr>
              <a:cxnSpLocks/>
            </p:cNvCxnSpPr>
            <p:nvPr/>
          </p:nvCxnSpPr>
          <p:spPr>
            <a:xfrm>
              <a:off x="1686538" y="2487013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83C5C81-C357-4784-AF8F-63789B473C73}"/>
                </a:ext>
              </a:extLst>
            </p:cNvPr>
            <p:cNvSpPr txBox="1"/>
            <p:nvPr/>
          </p:nvSpPr>
          <p:spPr>
            <a:xfrm>
              <a:off x="4346475" y="3326237"/>
              <a:ext cx="2016876" cy="21544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accent1"/>
                  </a:solidFill>
                </a:rPr>
                <a:t>w/o BIP</a:t>
              </a:r>
              <a:endParaRPr kumimoji="1" lang="ja-JP" alt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387" name="Straight Arrow Connector 386">
              <a:extLst>
                <a:ext uri="{FF2B5EF4-FFF2-40B4-BE49-F238E27FC236}">
                  <a16:creationId xmlns:a16="http://schemas.microsoft.com/office/drawing/2014/main" id="{086573EB-8B02-4BD9-AB90-6F9A06901417}"/>
                </a:ext>
              </a:extLst>
            </p:cNvPr>
            <p:cNvCxnSpPr>
              <a:cxnSpLocks/>
            </p:cNvCxnSpPr>
            <p:nvPr/>
          </p:nvCxnSpPr>
          <p:spPr>
            <a:xfrm>
              <a:off x="5336559" y="1466238"/>
              <a:ext cx="0" cy="174057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C2AEB2B8-8CC4-4719-9004-6A60C8EE6B41}"/>
                </a:ext>
              </a:extLst>
            </p:cNvPr>
            <p:cNvSpPr txBox="1"/>
            <p:nvPr/>
          </p:nvSpPr>
          <p:spPr>
            <a:xfrm>
              <a:off x="4571342" y="2322991"/>
              <a:ext cx="15744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000" dirty="0"/>
                <a:t>Sim. acceleration setting</a:t>
              </a:r>
              <a:endParaRPr kumimoji="1" lang="ja-JP" altLang="en-US" sz="1000" dirty="0"/>
            </a:p>
          </p:txBody>
        </p:sp>
        <p:cxnSp>
          <p:nvCxnSpPr>
            <p:cNvPr id="389" name="Straight Arrow Connector 388">
              <a:extLst>
                <a:ext uri="{FF2B5EF4-FFF2-40B4-BE49-F238E27FC236}">
                  <a16:creationId xmlns:a16="http://schemas.microsoft.com/office/drawing/2014/main" id="{57048B0C-FABF-4AD2-8836-4483B95B17E9}"/>
                </a:ext>
              </a:extLst>
            </p:cNvPr>
            <p:cNvCxnSpPr>
              <a:cxnSpLocks/>
            </p:cNvCxnSpPr>
            <p:nvPr/>
          </p:nvCxnSpPr>
          <p:spPr>
            <a:xfrm>
              <a:off x="5336559" y="2529563"/>
              <a:ext cx="0" cy="174057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oli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8F96583C-633E-4AC4-80CC-5D02FF9E6E3E}"/>
              </a:ext>
            </a:extLst>
          </p:cNvPr>
          <p:cNvGrpSpPr/>
          <p:nvPr/>
        </p:nvGrpSpPr>
        <p:grpSpPr>
          <a:xfrm>
            <a:off x="7072613" y="4483760"/>
            <a:ext cx="3789436" cy="1891861"/>
            <a:chOff x="4823301" y="4540305"/>
            <a:chExt cx="3789436" cy="1891861"/>
          </a:xfrm>
        </p:grpSpPr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F5EAA872-1CC1-4056-BF65-B6368B140684}"/>
                </a:ext>
              </a:extLst>
            </p:cNvPr>
            <p:cNvSpPr txBox="1"/>
            <p:nvPr/>
          </p:nvSpPr>
          <p:spPr>
            <a:xfrm>
              <a:off x="4823301" y="4750336"/>
              <a:ext cx="1021337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100" dirty="0"/>
                <a:t>Test images</a:t>
              </a:r>
            </a:p>
            <a:p>
              <a:pPr algn="ctr"/>
              <a:r>
                <a:rPr kumimoji="1" lang="en-US" altLang="ja-JP" sz="1100" dirty="0"/>
                <a:t>With Heat Map</a:t>
              </a:r>
              <a:endParaRPr kumimoji="1" lang="ja-JP" altLang="en-US" sz="1400" dirty="0"/>
            </a:p>
          </p:txBody>
        </p:sp>
        <p:sp>
          <p:nvSpPr>
            <p:cNvPr id="404" name="Rectangle 403">
              <a:extLst>
                <a:ext uri="{FF2B5EF4-FFF2-40B4-BE49-F238E27FC236}">
                  <a16:creationId xmlns:a16="http://schemas.microsoft.com/office/drawing/2014/main" id="{AB2032AF-87BB-448B-9CB3-9453CE7EBD88}"/>
                </a:ext>
              </a:extLst>
            </p:cNvPr>
            <p:cNvSpPr/>
            <p:nvPr/>
          </p:nvSpPr>
          <p:spPr>
            <a:xfrm>
              <a:off x="5092443" y="5168889"/>
              <a:ext cx="375824" cy="4016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406" name="Rectangle: Rounded Corners 405">
              <a:extLst>
                <a:ext uri="{FF2B5EF4-FFF2-40B4-BE49-F238E27FC236}">
                  <a16:creationId xmlns:a16="http://schemas.microsoft.com/office/drawing/2014/main" id="{CB0F661E-0EB5-4D21-97F6-CEDA384F4F0E}"/>
                </a:ext>
              </a:extLst>
            </p:cNvPr>
            <p:cNvSpPr/>
            <p:nvPr/>
          </p:nvSpPr>
          <p:spPr>
            <a:xfrm>
              <a:off x="6908400" y="5605395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sp>
          <p:nvSpPr>
            <p:cNvPr id="407" name="Rectangle: Rounded Corners 406">
              <a:extLst>
                <a:ext uri="{FF2B5EF4-FFF2-40B4-BE49-F238E27FC236}">
                  <a16:creationId xmlns:a16="http://schemas.microsoft.com/office/drawing/2014/main" id="{79A5D6F9-24ED-4F7F-838A-22E310E57355}"/>
                </a:ext>
              </a:extLst>
            </p:cNvPr>
            <p:cNvSpPr/>
            <p:nvPr/>
          </p:nvSpPr>
          <p:spPr>
            <a:xfrm>
              <a:off x="6908400" y="4540305"/>
              <a:ext cx="1021337" cy="591256"/>
            </a:xfrm>
            <a:prstGeom prst="roundRect">
              <a:avLst>
                <a:gd name="adj" fmla="val 257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rgbClr val="C0C0C0"/>
              </a:solidFill>
              <a:prstDash val="solid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2">
                      <a:lumMod val="95000"/>
                    </a:schemeClr>
                  </a:solidFill>
                </a:rPr>
                <a:t>Burn-in simulator</a:t>
              </a:r>
            </a:p>
          </p:txBody>
        </p: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B2547213-8999-42EA-82FA-DBF776B44E21}"/>
                </a:ext>
              </a:extLst>
            </p:cNvPr>
            <p:cNvCxnSpPr>
              <a:cxnSpLocks/>
            </p:cNvCxnSpPr>
            <p:nvPr/>
          </p:nvCxnSpPr>
          <p:spPr>
            <a:xfrm>
              <a:off x="5541297" y="5361233"/>
              <a:ext cx="262612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Arrow Connector 409">
              <a:extLst>
                <a:ext uri="{FF2B5EF4-FFF2-40B4-BE49-F238E27FC236}">
                  <a16:creationId xmlns:a16="http://schemas.microsoft.com/office/drawing/2014/main" id="{5CD97741-02F5-4F61-AB0A-1B7B98F5B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3909" y="4863201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2689EC42-07A6-4BA5-BB81-77D36C010E1E}"/>
                </a:ext>
              </a:extLst>
            </p:cNvPr>
            <p:cNvCxnSpPr>
              <a:cxnSpLocks/>
            </p:cNvCxnSpPr>
            <p:nvPr/>
          </p:nvCxnSpPr>
          <p:spPr>
            <a:xfrm>
              <a:off x="5901977" y="5873318"/>
              <a:ext cx="983048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Arrow Connector 413">
              <a:extLst>
                <a:ext uri="{FF2B5EF4-FFF2-40B4-BE49-F238E27FC236}">
                  <a16:creationId xmlns:a16="http://schemas.microsoft.com/office/drawing/2014/main" id="{006DEAD8-D0CC-4DA8-AAF5-C002CF8D252B}"/>
                </a:ext>
              </a:extLst>
            </p:cNvPr>
            <p:cNvCxnSpPr>
              <a:cxnSpLocks/>
            </p:cNvCxnSpPr>
            <p:nvPr/>
          </p:nvCxnSpPr>
          <p:spPr>
            <a:xfrm>
              <a:off x="5907210" y="4861507"/>
              <a:ext cx="977815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Arrow Connector 420">
              <a:extLst>
                <a:ext uri="{FF2B5EF4-FFF2-40B4-BE49-F238E27FC236}">
                  <a16:creationId xmlns:a16="http://schemas.microsoft.com/office/drawing/2014/main" id="{97E68816-FBA7-44F7-9EC0-C4257C1D356A}"/>
                </a:ext>
              </a:extLst>
            </p:cNvPr>
            <p:cNvCxnSpPr>
              <a:cxnSpLocks/>
            </p:cNvCxnSpPr>
            <p:nvPr/>
          </p:nvCxnSpPr>
          <p:spPr>
            <a:xfrm>
              <a:off x="5809142" y="5377498"/>
              <a:ext cx="98068" cy="498032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2C004F92-9AA5-497A-BAA2-7391F762CB8D}"/>
                </a:ext>
              </a:extLst>
            </p:cNvPr>
            <p:cNvSpPr txBox="1"/>
            <p:nvPr/>
          </p:nvSpPr>
          <p:spPr>
            <a:xfrm>
              <a:off x="6830681" y="6216722"/>
              <a:ext cx="1171590" cy="215444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kumimoji="1" lang="en-US" altLang="ja-JP" sz="1400" dirty="0">
                  <a:solidFill>
                    <a:schemeClr val="accent1"/>
                  </a:solidFill>
                </a:rPr>
                <a:t>w/o BIP</a:t>
              </a:r>
              <a:endParaRPr kumimoji="1" lang="ja-JP" altLang="en-US" sz="1400" dirty="0">
                <a:solidFill>
                  <a:schemeClr val="accent1"/>
                </a:solidFill>
              </a:endParaRPr>
            </a:p>
          </p:txBody>
        </p:sp>
        <p:cxnSp>
          <p:nvCxnSpPr>
            <p:cNvPr id="426" name="Straight Arrow Connector 425">
              <a:extLst>
                <a:ext uri="{FF2B5EF4-FFF2-40B4-BE49-F238E27FC236}">
                  <a16:creationId xmlns:a16="http://schemas.microsoft.com/office/drawing/2014/main" id="{B9BDCD84-0F0A-450C-938B-5C88FC46FCC5}"/>
                </a:ext>
              </a:extLst>
            </p:cNvPr>
            <p:cNvCxnSpPr>
              <a:cxnSpLocks/>
            </p:cNvCxnSpPr>
            <p:nvPr/>
          </p:nvCxnSpPr>
          <p:spPr>
            <a:xfrm>
              <a:off x="7955708" y="4863202"/>
              <a:ext cx="248036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Arrow Connector 426">
              <a:extLst>
                <a:ext uri="{FF2B5EF4-FFF2-40B4-BE49-F238E27FC236}">
                  <a16:creationId xmlns:a16="http://schemas.microsoft.com/office/drawing/2014/main" id="{44BE78B4-4748-47BC-AE0D-CAF71AD3E9A8}"/>
                </a:ext>
              </a:extLst>
            </p:cNvPr>
            <p:cNvCxnSpPr>
              <a:cxnSpLocks/>
            </p:cNvCxnSpPr>
            <p:nvPr/>
          </p:nvCxnSpPr>
          <p:spPr>
            <a:xfrm>
              <a:off x="7949913" y="5873318"/>
              <a:ext cx="253831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Rectangle 427">
              <a:extLst>
                <a:ext uri="{FF2B5EF4-FFF2-40B4-BE49-F238E27FC236}">
                  <a16:creationId xmlns:a16="http://schemas.microsoft.com/office/drawing/2014/main" id="{E5DA3C68-C667-4E03-BF89-0B17C6023A9D}"/>
                </a:ext>
              </a:extLst>
            </p:cNvPr>
            <p:cNvSpPr/>
            <p:nvPr/>
          </p:nvSpPr>
          <p:spPr>
            <a:xfrm>
              <a:off x="8236913" y="5674719"/>
              <a:ext cx="375824" cy="401622"/>
            </a:xfrm>
            <a:prstGeom prst="rect">
              <a:avLst/>
            </a:prstGeom>
            <a:gradFill>
              <a:gsLst>
                <a:gs pos="16000">
                  <a:srgbClr val="FFFFFF"/>
                </a:gs>
                <a:gs pos="85000">
                  <a:schemeClr val="accent4">
                    <a:lumMod val="20000"/>
                    <a:lumOff val="80000"/>
                  </a:schemeClr>
                </a:gs>
              </a:gsLst>
              <a:lin ang="16200000" scaled="1"/>
            </a:gra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429" name="Rectangle 428">
              <a:extLst>
                <a:ext uri="{FF2B5EF4-FFF2-40B4-BE49-F238E27FC236}">
                  <a16:creationId xmlns:a16="http://schemas.microsoft.com/office/drawing/2014/main" id="{C706F238-765F-4CC1-BAA3-1CE1BAC446DB}"/>
                </a:ext>
              </a:extLst>
            </p:cNvPr>
            <p:cNvSpPr/>
            <p:nvPr/>
          </p:nvSpPr>
          <p:spPr>
            <a:xfrm>
              <a:off x="8234998" y="4697370"/>
              <a:ext cx="375824" cy="40162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lIns="0" tIns="0" rIns="0" bIns="0" rtlCol="0" anchor="ctr">
              <a:normAutofit/>
            </a:bodyPr>
            <a:lstStyle/>
            <a:p>
              <a:pPr algn="ctr"/>
              <a:endParaRPr lang="en-US" sz="800" dirty="0"/>
            </a:p>
          </p:txBody>
        </p:sp>
      </p:grpSp>
      <p:sp>
        <p:nvSpPr>
          <p:cNvPr id="430" name="Arrow: Striped Right 429">
            <a:extLst>
              <a:ext uri="{FF2B5EF4-FFF2-40B4-BE49-F238E27FC236}">
                <a16:creationId xmlns:a16="http://schemas.microsoft.com/office/drawing/2014/main" id="{1A2C7333-ACAF-43A0-A18C-FFDF38467F2D}"/>
              </a:ext>
            </a:extLst>
          </p:cNvPr>
          <p:cNvSpPr/>
          <p:nvPr/>
        </p:nvSpPr>
        <p:spPr>
          <a:xfrm>
            <a:off x="6646465" y="5040340"/>
            <a:ext cx="228366" cy="493466"/>
          </a:xfrm>
          <a:prstGeom prst="stripedRightArrow">
            <a:avLst>
              <a:gd name="adj1" fmla="val 57442"/>
              <a:gd name="adj2" fmla="val 50000"/>
            </a:avLst>
          </a:prstGeom>
          <a:solidFill>
            <a:srgbClr val="9C5BCD"/>
          </a:solidFill>
          <a:ln>
            <a:noFill/>
            <a:prstDash val="solid"/>
            <a:tailEnd type="none"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4D377922-340E-4620-9977-C6D495A0C7EC}"/>
              </a:ext>
            </a:extLst>
          </p:cNvPr>
          <p:cNvSpPr/>
          <p:nvPr/>
        </p:nvSpPr>
        <p:spPr>
          <a:xfrm>
            <a:off x="10367336" y="4423398"/>
            <a:ext cx="648822" cy="1787547"/>
          </a:xfrm>
          <a:prstGeom prst="ellipse">
            <a:avLst/>
          </a:prstGeom>
          <a:ln w="12700">
            <a:solidFill>
              <a:schemeClr val="accent1"/>
            </a:solidFill>
            <a:prstDash val="sysDot"/>
            <a:tailEnd type="none"/>
          </a:ln>
          <a:effectLst>
            <a:glow rad="63500">
              <a:schemeClr val="accent4">
                <a:lumMod val="40000"/>
                <a:lumOff val="60000"/>
                <a:alpha val="71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5C1C4433-620B-48C4-9A1F-B7F5EECA5589}"/>
              </a:ext>
            </a:extLst>
          </p:cNvPr>
          <p:cNvSpPr/>
          <p:nvPr/>
        </p:nvSpPr>
        <p:spPr>
          <a:xfrm>
            <a:off x="9796194" y="3695219"/>
            <a:ext cx="17384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PQ comparison</a:t>
            </a:r>
          </a:p>
        </p:txBody>
      </p:sp>
      <p:cxnSp>
        <p:nvCxnSpPr>
          <p:cNvPr id="434" name="Straight Arrow Connector 433">
            <a:extLst>
              <a:ext uri="{FF2B5EF4-FFF2-40B4-BE49-F238E27FC236}">
                <a16:creationId xmlns:a16="http://schemas.microsoft.com/office/drawing/2014/main" id="{DE854D7D-89B3-4A14-B34B-71CC2C6E4818}"/>
              </a:ext>
            </a:extLst>
          </p:cNvPr>
          <p:cNvCxnSpPr>
            <a:cxnSpLocks/>
          </p:cNvCxnSpPr>
          <p:nvPr/>
        </p:nvCxnSpPr>
        <p:spPr>
          <a:xfrm>
            <a:off x="10674015" y="4033773"/>
            <a:ext cx="0" cy="363015"/>
          </a:xfrm>
          <a:prstGeom prst="straightConnector1">
            <a:avLst/>
          </a:prstGeom>
          <a:ln w="38100">
            <a:solidFill>
              <a:schemeClr val="accent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テキスト ボックス 9">
            <a:extLst>
              <a:ext uri="{FF2B5EF4-FFF2-40B4-BE49-F238E27FC236}">
                <a16:creationId xmlns:a16="http://schemas.microsoft.com/office/drawing/2014/main" id="{CBFA7B2F-888A-4997-AECB-3E876FF90958}"/>
              </a:ext>
            </a:extLst>
          </p:cNvPr>
          <p:cNvSpPr txBox="1"/>
          <p:nvPr/>
        </p:nvSpPr>
        <p:spPr>
          <a:xfrm>
            <a:off x="450061" y="3169323"/>
            <a:ext cx="1952457" cy="252377"/>
          </a:xfrm>
          <a:prstGeom prst="rect">
            <a:avLst/>
          </a:prstGeom>
          <a:solidFill>
            <a:srgbClr val="0070C0"/>
          </a:solidFill>
          <a:effectLst>
            <a:glow rad="63500">
              <a:srgbClr val="000000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tIns="18288" rIns="18288" bIns="18288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DBI development</a:t>
            </a:r>
            <a:endParaRPr kumimoji="1" lang="en-US" altLang="ja-JP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437" name="テキスト ボックス 9">
            <a:extLst>
              <a:ext uri="{FF2B5EF4-FFF2-40B4-BE49-F238E27FC236}">
                <a16:creationId xmlns:a16="http://schemas.microsoft.com/office/drawing/2014/main" id="{8F0C67AC-0564-4B56-BF2C-FFF47BA44A41}"/>
              </a:ext>
            </a:extLst>
          </p:cNvPr>
          <p:cNvSpPr txBox="1"/>
          <p:nvPr/>
        </p:nvSpPr>
        <p:spPr>
          <a:xfrm>
            <a:off x="450061" y="3899291"/>
            <a:ext cx="1952457" cy="2523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glow rad="63500">
              <a:srgbClr val="000000">
                <a:satMod val="175000"/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288" tIns="18288" rIns="18288" bIns="18288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BIP development</a:t>
            </a:r>
            <a:endParaRPr kumimoji="1" lang="en-US" altLang="ja-JP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254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2.xml><?xml version="1.0" encoding="utf-8"?>
<a:theme xmlns:a="http://schemas.openxmlformats.org/drawingml/2006/main" name="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4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19CE10E0-DEB1-4025-A926-EA35B177B1A8}"/>
    </a:ext>
  </a:extLst>
</a:theme>
</file>

<file path=ppt/theme/theme5.xml><?xml version="1.0" encoding="utf-8"?>
<a:theme xmlns:a="http://schemas.openxmlformats.org/drawingml/2006/main" name="10_default">
  <a:themeElements>
    <a:clrScheme name="default 1">
      <a:dk1>
        <a:srgbClr val="000000"/>
      </a:dk1>
      <a:lt1>
        <a:srgbClr val="FFFFFF"/>
      </a:lt1>
      <a:dk2>
        <a:srgbClr val="990000"/>
      </a:dk2>
      <a:lt2>
        <a:srgbClr val="777777"/>
      </a:lt2>
      <a:accent1>
        <a:srgbClr val="FFCC99"/>
      </a:accent1>
      <a:accent2>
        <a:srgbClr val="FFCC66"/>
      </a:accent2>
      <a:accent3>
        <a:srgbClr val="FFFFFF"/>
      </a:accent3>
      <a:accent4>
        <a:srgbClr val="000000"/>
      </a:accent4>
      <a:accent5>
        <a:srgbClr val="FFE2CA"/>
      </a:accent5>
      <a:accent6>
        <a:srgbClr val="E7B95C"/>
      </a:accent6>
      <a:hlink>
        <a:srgbClr val="FF9900"/>
      </a:hlink>
      <a:folHlink>
        <a:srgbClr val="996600"/>
      </a:folHlink>
    </a:clrScheme>
    <a:fontScheme name="r4sbrhzz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79200" tIns="39600" rIns="79200" bIns="39600" numCol="1" anchor="t" anchorCtr="0" compatLnSpc="1">
        <a:prstTxWarp prst="textNoShape">
          <a:avLst/>
        </a:prstTxWarp>
        <a:spAutoFit/>
      </a:bodyPr>
      <a:lstStyle>
        <a:defPPr marL="0" marR="0" indent="0" algn="l" defTabSz="80168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utigerNext LT Regular" pitchFamily="34" charset="0"/>
            <a:ea typeface="ＭＳ Ｐゴシック" pitchFamily="34" charset="-128"/>
          </a:defRPr>
        </a:defPPr>
      </a:lstStyle>
    </a:lnDef>
  </a:objectDefaults>
  <a:extraClrSchemeLst>
    <a:extraClrScheme>
      <a:clrScheme name="default 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99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B95C"/>
        </a:accent6>
        <a:hlink>
          <a:srgbClr val="FF99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990000"/>
        </a:dk2>
        <a:lt2>
          <a:srgbClr val="808080"/>
        </a:lt2>
        <a:accent1>
          <a:srgbClr val="CCFF99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FFCA"/>
        </a:accent5>
        <a:accent6>
          <a:srgbClr val="8AB9B9"/>
        </a:accent6>
        <a:hlink>
          <a:srgbClr val="0099CC"/>
        </a:hlink>
        <a:folHlink>
          <a:srgbClr val="00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990000"/>
        </a:dk2>
        <a:lt2>
          <a:srgbClr val="969696"/>
        </a:lt2>
        <a:accent1>
          <a:srgbClr val="DDDDDD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8AB9E7"/>
        </a:accent6>
        <a:hlink>
          <a:srgbClr val="99CCCC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FF"/>
        </a:accent1>
        <a:accent2>
          <a:srgbClr val="669900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5C8A00"/>
        </a:accent6>
        <a:hlink>
          <a:srgbClr val="FF9900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1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FFCC66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E7B98A"/>
        </a:accent6>
        <a:hlink>
          <a:srgbClr val="FF99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2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CCCCFF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B9E7"/>
        </a:accent6>
        <a:hlink>
          <a:srgbClr val="0066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3">
        <a:dk1>
          <a:srgbClr val="000000"/>
        </a:dk1>
        <a:lt1>
          <a:srgbClr val="FFFFFF"/>
        </a:lt1>
        <a:dk2>
          <a:srgbClr val="990000"/>
        </a:dk2>
        <a:lt2>
          <a:srgbClr val="777777"/>
        </a:lt2>
        <a:accent1>
          <a:srgbClr val="99CCCC"/>
        </a:accent1>
        <a:accent2>
          <a:srgbClr val="CCFF99"/>
        </a:accent2>
        <a:accent3>
          <a:srgbClr val="FFFFFF"/>
        </a:accent3>
        <a:accent4>
          <a:srgbClr val="000000"/>
        </a:accent4>
        <a:accent5>
          <a:srgbClr val="CAE2E2"/>
        </a:accent5>
        <a:accent6>
          <a:srgbClr val="B9E78A"/>
        </a:accent6>
        <a:hlink>
          <a:srgbClr val="009999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7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8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9.xml><?xml version="1.0" encoding="utf-8"?>
<a:theme xmlns:a="http://schemas.openxmlformats.org/drawingml/2006/main" name="2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  <a:prstDash val="solid"/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>
          <a:solidFill>
            <a:schemeClr val="tx1"/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89004</TotalTime>
  <Words>2142</Words>
  <Application>Microsoft Office PowerPoint</Application>
  <PresentationFormat>Custom</PresentationFormat>
  <Paragraphs>191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4</vt:i4>
      </vt:variant>
    </vt:vector>
  </HeadingPairs>
  <TitlesOfParts>
    <vt:vector size="32" baseType="lpstr">
      <vt:lpstr>DengXian</vt:lpstr>
      <vt:lpstr>FrutigerNext LT Bold</vt:lpstr>
      <vt:lpstr>FrutigerNext LT Light</vt:lpstr>
      <vt:lpstr>FrutigerNext LT Medium</vt:lpstr>
      <vt:lpstr>FrutigerNext LT Regular</vt:lpstr>
      <vt:lpstr>Meiryo UI</vt:lpstr>
      <vt:lpstr>Microsoft YaHei</vt:lpstr>
      <vt:lpstr>Microsoft YaHei</vt:lpstr>
      <vt:lpstr>ＭＳ Ｐゴシック</vt:lpstr>
      <vt:lpstr>ＭＳ Ｐゴシック</vt:lpstr>
      <vt:lpstr>ＭＳ Ｐ明朝</vt:lpstr>
      <vt:lpstr>SimHei</vt:lpstr>
      <vt:lpstr>STXihei</vt:lpstr>
      <vt:lpstr>游ゴシック</vt:lpstr>
      <vt:lpstr>Arial</vt:lpstr>
      <vt:lpstr>Calibri</vt:lpstr>
      <vt:lpstr>Cambria Math</vt:lpstr>
      <vt:lpstr>Century Schoolbook</vt:lpstr>
      <vt:lpstr>Wingdings</vt:lpstr>
      <vt:lpstr>Cover page_Image version</vt:lpstr>
      <vt:lpstr>Contents page</vt:lpstr>
      <vt:lpstr>Chapter page</vt:lpstr>
      <vt:lpstr>End page</vt:lpstr>
      <vt:lpstr>10_default</vt:lpstr>
      <vt:lpstr>章节页</vt:lpstr>
      <vt:lpstr>1_Chapter page</vt:lpstr>
      <vt:lpstr>1_章节页</vt:lpstr>
      <vt:lpstr>2_Chapter page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Yamashita Keitaro</dc:creator>
  <cp:lastModifiedBy>Matsui Masafumi</cp:lastModifiedBy>
  <cp:revision>1027</cp:revision>
  <dcterms:created xsi:type="dcterms:W3CDTF">2022-08-30T02:04:30Z</dcterms:created>
  <dcterms:modified xsi:type="dcterms:W3CDTF">2026-07-21T03:09:19Z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(3)XHW0Dtu41KsHz4ygSGmlQ5Dq1G4uRDJ5y+httyEdtgUjsDD84aV50olvVa6eqsIV/pAIKWQc
U+WKjKsUGzjjrW926QvY5LtS17AFeedWz9SXwgt0uLiG2F1SSddu9HO9RaqN18yfbzkMo7eY
gz6ssjI37NPOaefdjKASpf4eBVypWRQT/Z1/TWhKB/WD5NQkRjLw6/2BptANEH1grJI4DfWC
pAgsfGHs/EWlq4NH8t</vt:lpwstr>
  </property>
  <property fmtid="{D5CDD505-2E9C-101B-9397-08002B2CF9AE}" pid="3" name="_2015_ms_pID_7253431">
    <vt:lpwstr>bZ1FU+XbUY9Ydy7dyx2MtD2vgtJTbHN7zFRYuSOwp4vDOi8M9CrwjD
45Ow1/+Ei3fvosd+D86wcB80vk6pgSK+pbg5Ega/WshodUL+8elzfeL1VtYBF5PF4I5y1lpE
dmKs/duCxE0s9ZBvr7G6UASLFWoiu2I6blDY2oYOgTnWe58XsI8YlurUDhCMk6mwPlAtTCYY
wTx4XOZrc6pRMp0PM2UypW/ePeWr4jUW9yNW</vt:lpwstr>
  </property>
  <property fmtid="{D5CDD505-2E9C-101B-9397-08002B2CF9AE}" pid="4" name="_2015_ms_pID_7253432">
    <vt:lpwstr>1g==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1784077178</vt:lpwstr>
  </property>
</Properties>
</file>